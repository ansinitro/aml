
<file path=[Content_Types].xml><?xml version="1.0" encoding="utf-8"?>
<Types xmlns="http://schemas.openxmlformats.org/package/2006/content-types">
  <Default Extension="xml" ContentType="application/xml"/>
  <Default Extension="jpg" ContentType="image/jpeg"/>
  <Default Extension="wmf" ContentType="image/x-wmf"/>
  <Default Extension="bin" ContentType="application/vnd.openxmlformats-officedocument.oleObject"/>
  <Default Extension="rels" ContentType="application/vnd.openxmlformats-package.relationships+xml"/>
  <Default Extension="jpeg" ContentType="image/jpeg"/>
  <Default Extension="png" ContentType="image/png"/>
  <Override PartName="/ppt/notesSlides/notesSlide16.xml" ContentType="application/vnd.openxmlformats-officedocument.presentationml.notesSlide+xml"/>
  <Override PartName="/ppt/slides/slide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5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s/slide7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14.xml" ContentType="application/vnd.openxmlformats-officedocument.presentationml.notesSlide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2.xml" ContentType="application/vnd.openxmlformats-officedocument.presentationml.slide+xml"/>
  <Override PartName="/ppt/slideMasters/slideMaster1.xml" ContentType="application/vnd.openxmlformats-officedocument.presentationml.slideMaster+xml"/>
  <Override PartName="/docProps/core.xml" ContentType="application/vnd.openxmlformats-package.core-properties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3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6.xml" ContentType="application/vnd.openxmlformats-officedocument.presentationml.notesSlide+xml"/>
  <Override PartName="/ppt/presentation.xml" ContentType="application/vnd.openxmlformats-officedocument.presentationml.presentation.main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20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4610100" cy="3460750"/>
  <p:notesSz cx="4610100" cy="346075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2D5ABB26-0587-4C30-8999-92F81FD0307C}">
  <a:tblStyle styleId="{2D5ABB26-0587-4C30-8999-92F81FD0307C}" styleName="No Style, No Grid">
    <a:wholeTbl>
      <a:tcTxStyle>
        <a:fontRef idx="minor">
          <a:srgbClr val="000000"/>
        </a:fontRef>
        <a:schemeClr val="tx1"/>
      </a:tcTxStyle>
      <a:tcStyle>
        <a:tcBdr>
          <a:left>
            <a:ln w="12700">
              <a:noFill/>
            </a:ln>
          </a:left>
          <a:right>
            <a:ln w="12700">
              <a:noFill/>
            </a:ln>
          </a:right>
          <a:top>
            <a:ln w="12700">
              <a:noFill/>
            </a:ln>
          </a:top>
          <a:bottom>
            <a:ln w="12700">
              <a:noFill/>
            </a:ln>
          </a:bottom>
          <a:insideH>
            <a:ln w="12700">
              <a:noFill/>
            </a:ln>
          </a:insideH>
          <a:insideV>
            <a:ln w="12700">
              <a:noFill/>
            </a:ln>
          </a:insideV>
        </a:tcBdr>
        <a:fill>
          <a:noFill/>
        </a:fill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78" d="100"/>
          <a:sy n="78" d="100"/>
        </p:scale>
        <p:origin x="-1536" y="-84"/>
      </p:cViewPr>
      <p:guideLst>
        <p:guide pos="2880" orient="horz"/>
        <p:guide pos="2160"/>
      </p:guideLst>
    </p:cSldViewPr>
  </p:slideViewPr>
  <p:gridSpacing cx="78028800" cy="780288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 /><Relationship Id="rId22" Type="http://schemas.openxmlformats.org/officeDocument/2006/relationships/tableStyles" Target="tableStyles.xml" /><Relationship Id="rId2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708F07-7B36-63C7-02E9-11070419BB0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2DF705A-AF9B-28BA-7DB0-54D5914B2FC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7357ABE-4E76-C6C7-1309-CC695D1F5E8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5C0848-5E5F-A53F-66A1-E019FE6BF4B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A1A5D3-5D11-8430-83FD-9C604702C2F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0A7F51-79DF-E93E-C125-5F845B4625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ED188D-67C8-C6AE-A5D7-494F24A46B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DE97105-02DD-A2CC-4C56-92113CE4E0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F4A1E7F-3B97-F5FD-61FA-E19678A3400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A658F2-32B6-C4B0-D46F-34BE735300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A1DA46-88EE-3618-A7B4-B4B3B30EE88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482FBE-E64B-B5C2-7656-FDDEB354F1E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93EC41-FA0F-70A5-5334-7AAC61260AD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99DA021-F402-C63C-74B3-F6F68838405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EDB8274-75A5-F62F-0EF3-AAE63F78915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180EB07-AA31-6A1E-61C1-3A9FE079E83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Slid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8908873" name="bg object 16"/>
          <p:cNvSpPr/>
          <p:nvPr/>
        </p:nvSpPr>
        <p:spPr bwMode="auto"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 fill="norm" stroke="1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72022155" name="bg object 17"/>
          <p:cNvSpPr/>
          <p:nvPr/>
        </p:nvSpPr>
        <p:spPr bwMode="auto"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48451674" name="bg object 18"/>
          <p:cNvSpPr/>
          <p:nvPr/>
        </p:nvSpPr>
        <p:spPr bwMode="auto">
          <a:xfrm>
            <a:off x="3167267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fill="norm" stroke="1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63182796" name="bg object 19"/>
          <p:cNvSpPr/>
          <p:nvPr/>
        </p:nvSpPr>
        <p:spPr bwMode="auto"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 fill="norm" stroke="1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fill="norm" stroke="1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fill="norm" stroke="1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17652796" name="bg object 20"/>
          <p:cNvSpPr/>
          <p:nvPr/>
        </p:nvSpPr>
        <p:spPr bwMode="auto"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83490279" name="bg object 21"/>
          <p:cNvSpPr/>
          <p:nvPr/>
        </p:nvSpPr>
        <p:spPr bwMode="auto"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 fill="norm" stroke="1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78888976" name="bg object 22"/>
          <p:cNvSpPr/>
          <p:nvPr/>
        </p:nvSpPr>
        <p:spPr bwMode="auto"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29148565" name="bg object 23"/>
          <p:cNvSpPr/>
          <p:nvPr/>
        </p:nvSpPr>
        <p:spPr bwMode="auto"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50800" fill="norm" stroke="1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fill="norm" stroke="1" extrusionOk="0">
                <a:moveTo>
                  <a:pt x="0" y="38100"/>
                </a:moveTo>
                <a:lnTo>
                  <a:pt x="38100" y="38100"/>
                </a:lnTo>
              </a:path>
              <a:path w="50800" h="50800" fill="norm" stroke="1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59913014" name="bg object 24"/>
          <p:cNvSpPr/>
          <p:nvPr/>
        </p:nvSpPr>
        <p:spPr bwMode="auto"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25400" fill="norm" stroke="1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fill="norm" stroke="1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71262487" name="bg object 25"/>
          <p:cNvSpPr/>
          <p:nvPr/>
        </p:nvSpPr>
        <p:spPr bwMode="auto"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268422394" name="bg object 26"/>
          <p:cNvSpPr/>
          <p:nvPr/>
        </p:nvSpPr>
        <p:spPr bwMode="auto"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12700" fill="norm" stroke="1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60454702" name="bg object 27"/>
          <p:cNvSpPr/>
          <p:nvPr/>
        </p:nvSpPr>
        <p:spPr bwMode="auto"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50800" fill="norm" stroke="1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fill="norm" stroke="1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fill="norm" stroke="1" extrusionOk="0">
                <a:moveTo>
                  <a:pt x="0" y="38100"/>
                </a:moveTo>
                <a:lnTo>
                  <a:pt x="38100" y="38100"/>
                </a:lnTo>
              </a:path>
              <a:path w="50800" h="50800" fill="norm" stroke="1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73099455" name="bg object 28"/>
          <p:cNvSpPr/>
          <p:nvPr/>
        </p:nvSpPr>
        <p:spPr bwMode="auto"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 fill="norm" stroke="1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91305267" name="bg object 29"/>
          <p:cNvSpPr/>
          <p:nvPr/>
        </p:nvSpPr>
        <p:spPr bwMode="auto"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 fill="norm" stroke="1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57664254" name="bg object 30"/>
          <p:cNvSpPr/>
          <p:nvPr/>
        </p:nvSpPr>
        <p:spPr bwMode="auto"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 fill="norm" stroke="1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fill="norm" stroke="1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fill="norm" stroke="1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fill="norm" stroke="1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96774700" name="bg object 31"/>
          <p:cNvSpPr/>
          <p:nvPr/>
        </p:nvSpPr>
        <p:spPr bwMode="auto">
          <a:xfrm>
            <a:off x="0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5" h="109854" fill="norm" stroke="1" extrusionOk="0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C1C1E8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66216634" name="bg object 32"/>
          <p:cNvSpPr/>
          <p:nvPr/>
        </p:nvSpPr>
        <p:spPr bwMode="auto">
          <a:xfrm>
            <a:off x="1535976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 fill="norm" stroke="1" extrusionOk="0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CCCCEB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19244286" name="bg object 33"/>
          <p:cNvSpPr/>
          <p:nvPr/>
        </p:nvSpPr>
        <p:spPr bwMode="auto">
          <a:xfrm>
            <a:off x="3071952" y="3346348"/>
            <a:ext cx="1536065" cy="109855"/>
          </a:xfrm>
          <a:custGeom>
            <a:avLst/>
            <a:gdLst/>
            <a:ahLst/>
            <a:cxnLst/>
            <a:rect l="l" t="t" r="r" b="b"/>
            <a:pathLst>
              <a:path w="1536064" h="109854" fill="norm" stroke="1" extrusionOk="0">
                <a:moveTo>
                  <a:pt x="1535976" y="0"/>
                </a:moveTo>
                <a:lnTo>
                  <a:pt x="0" y="0"/>
                </a:lnTo>
                <a:lnTo>
                  <a:pt x="0" y="109651"/>
                </a:lnTo>
                <a:lnTo>
                  <a:pt x="1535976" y="109651"/>
                </a:lnTo>
                <a:lnTo>
                  <a:pt x="1535976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51216364" name="Holder 2"/>
          <p:cNvSpPr>
            <a:spLocks noGrp="1"/>
          </p:cNvSpPr>
          <p:nvPr>
            <p:ph type="ctrTitle"/>
          </p:nvPr>
        </p:nvSpPr>
        <p:spPr bwMode="auto">
          <a:xfrm>
            <a:off x="1562480" y="997113"/>
            <a:ext cx="1483360" cy="4032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66420797" name="Holder 3"/>
          <p:cNvSpPr>
            <a:spLocks noGrp="1"/>
          </p:cNvSpPr>
          <p:nvPr>
            <p:ph type="subTitle" idx="4"/>
          </p:nvPr>
        </p:nvSpPr>
        <p:spPr bwMode="auto"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26063072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473874938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77507097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#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5962902" name="bg object 16"/>
          <p:cNvSpPr/>
          <p:nvPr/>
        </p:nvSpPr>
        <p:spPr bwMode="auto"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 fill="norm" stroke="1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13095659" name="bg object 17"/>
          <p:cNvSpPr/>
          <p:nvPr/>
        </p:nvSpPr>
        <p:spPr bwMode="auto"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05956846" name="bg object 18"/>
          <p:cNvSpPr/>
          <p:nvPr/>
        </p:nvSpPr>
        <p:spPr bwMode="auto">
          <a:xfrm>
            <a:off x="3167267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fill="norm" stroke="1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46387999" name="bg object 19"/>
          <p:cNvSpPr/>
          <p:nvPr/>
        </p:nvSpPr>
        <p:spPr bwMode="auto"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 fill="norm" stroke="1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fill="norm" stroke="1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fill="norm" stroke="1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873636077" name="bg object 20"/>
          <p:cNvSpPr/>
          <p:nvPr/>
        </p:nvSpPr>
        <p:spPr bwMode="auto"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74224873" name="bg object 21"/>
          <p:cNvSpPr/>
          <p:nvPr/>
        </p:nvSpPr>
        <p:spPr bwMode="auto"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 fill="norm" stroke="1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25708889" name="bg object 22"/>
          <p:cNvSpPr/>
          <p:nvPr/>
        </p:nvSpPr>
        <p:spPr bwMode="auto"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46388885" name="bg object 23"/>
          <p:cNvSpPr/>
          <p:nvPr/>
        </p:nvSpPr>
        <p:spPr bwMode="auto"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50800" fill="norm" stroke="1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fill="norm" stroke="1" extrusionOk="0">
                <a:moveTo>
                  <a:pt x="0" y="38100"/>
                </a:moveTo>
                <a:lnTo>
                  <a:pt x="38100" y="38100"/>
                </a:lnTo>
              </a:path>
              <a:path w="50800" h="50800" fill="norm" stroke="1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4032874" name="bg object 24"/>
          <p:cNvSpPr/>
          <p:nvPr/>
        </p:nvSpPr>
        <p:spPr bwMode="auto"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25400" fill="norm" stroke="1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fill="norm" stroke="1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460633422" name="bg object 25"/>
          <p:cNvSpPr/>
          <p:nvPr/>
        </p:nvSpPr>
        <p:spPr bwMode="auto"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81967487" name="bg object 26"/>
          <p:cNvSpPr/>
          <p:nvPr/>
        </p:nvSpPr>
        <p:spPr bwMode="auto"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12700" fill="norm" stroke="1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25709758" name="bg object 27"/>
          <p:cNvSpPr/>
          <p:nvPr/>
        </p:nvSpPr>
        <p:spPr bwMode="auto"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50800" fill="norm" stroke="1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fill="norm" stroke="1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fill="norm" stroke="1" extrusionOk="0">
                <a:moveTo>
                  <a:pt x="0" y="38100"/>
                </a:moveTo>
                <a:lnTo>
                  <a:pt x="38100" y="38100"/>
                </a:lnTo>
              </a:path>
              <a:path w="50800" h="50800" fill="norm" stroke="1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370095955" name="bg object 28"/>
          <p:cNvSpPr/>
          <p:nvPr/>
        </p:nvSpPr>
        <p:spPr bwMode="auto"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 fill="norm" stroke="1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20787012" name="bg object 29"/>
          <p:cNvSpPr/>
          <p:nvPr/>
        </p:nvSpPr>
        <p:spPr bwMode="auto"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 fill="norm" stroke="1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45288849" name="bg object 30"/>
          <p:cNvSpPr/>
          <p:nvPr/>
        </p:nvSpPr>
        <p:spPr bwMode="auto"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 fill="norm" stroke="1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fill="norm" stroke="1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fill="norm" stroke="1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fill="norm" stroke="1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29620333" name="bg object 31"/>
          <p:cNvSpPr/>
          <p:nvPr/>
        </p:nvSpPr>
        <p:spPr bwMode="auto"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 fill="norm" stroke="1" extrusionOk="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712751532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27358792" name="Holder 3"/>
          <p:cNvSpPr>
            <a:spLocks noGrp="1"/>
          </p:cNvSpPr>
          <p:nvPr>
            <p:ph type="body" idx="1"/>
          </p:nvPr>
        </p:nvSpPr>
        <p:spPr bwMode="auto"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59796824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42833744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993623918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#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184257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094297" name="Holder 3"/>
          <p:cNvSpPr>
            <a:spLocks noGrp="1"/>
          </p:cNvSpPr>
          <p:nvPr>
            <p:ph sz="half" idx="2"/>
          </p:nvPr>
        </p:nvSpPr>
        <p:spPr bwMode="auto"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78778035" name="Holder 4"/>
          <p:cNvSpPr>
            <a:spLocks noGrp="1"/>
          </p:cNvSpPr>
          <p:nvPr>
            <p:ph sz="half" idx="3"/>
          </p:nvPr>
        </p:nvSpPr>
        <p:spPr bwMode="auto"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466998279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576048224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004540877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#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471096" name="Holder 2"/>
          <p:cNvSpPr>
            <a:spLocks noGrp="1"/>
          </p:cNvSpPr>
          <p:nvPr>
            <p:ph type="title"/>
          </p:nvPr>
        </p:nvSpPr>
        <p:spPr bwMode="auto"/>
        <p:txBody>
          <a:bodyPr lIns="0" tIns="0" rIns="0" bIns="0"/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9660547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518891967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054836446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#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661905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788543240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1618040751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#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3094223" name="bg object 16"/>
          <p:cNvSpPr/>
          <p:nvPr/>
        </p:nvSpPr>
        <p:spPr bwMode="auto">
          <a:xfrm>
            <a:off x="3069083" y="3261575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 fill="norm" stroke="1" extrusionOk="0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53633793" name="bg object 17"/>
          <p:cNvSpPr/>
          <p:nvPr/>
        </p:nvSpPr>
        <p:spPr bwMode="auto">
          <a:xfrm>
            <a:off x="2989465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58589997" name="bg object 18"/>
          <p:cNvSpPr/>
          <p:nvPr/>
        </p:nvSpPr>
        <p:spPr bwMode="auto">
          <a:xfrm>
            <a:off x="3167267" y="3257613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 fill="norm" stroke="1" extrusionOk="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82340962" name="bg object 19"/>
          <p:cNvSpPr/>
          <p:nvPr/>
        </p:nvSpPr>
        <p:spPr bwMode="auto">
          <a:xfrm>
            <a:off x="3323614" y="3251262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 fill="norm" stroke="1" extrusionOk="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 fill="norm" stroke="1" extrusionOk="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 fill="norm" stroke="1" extrusionOk="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25224549" name="bg object 20"/>
          <p:cNvSpPr/>
          <p:nvPr/>
        </p:nvSpPr>
        <p:spPr bwMode="auto">
          <a:xfrm>
            <a:off x="326044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561106930" name="bg object 21"/>
          <p:cNvSpPr/>
          <p:nvPr/>
        </p:nvSpPr>
        <p:spPr bwMode="auto">
          <a:xfrm>
            <a:off x="3620326" y="3263963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 h="0" fill="norm" stroke="1" extrusionOk="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97107660" name="bg object 22"/>
          <p:cNvSpPr/>
          <p:nvPr/>
        </p:nvSpPr>
        <p:spPr bwMode="auto">
          <a:xfrm>
            <a:off x="3531425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050154651" name="bg object 23"/>
          <p:cNvSpPr/>
          <p:nvPr/>
        </p:nvSpPr>
        <p:spPr bwMode="auto">
          <a:xfrm>
            <a:off x="3607626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50800" fill="norm" stroke="1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fill="norm" stroke="1" extrusionOk="0">
                <a:moveTo>
                  <a:pt x="0" y="38100"/>
                </a:moveTo>
                <a:lnTo>
                  <a:pt x="38100" y="38100"/>
                </a:lnTo>
              </a:path>
              <a:path w="50800" h="50800" fill="norm" stroke="1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42193404" name="bg object 24"/>
          <p:cNvSpPr/>
          <p:nvPr/>
        </p:nvSpPr>
        <p:spPr bwMode="auto">
          <a:xfrm>
            <a:off x="3878593" y="3251262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25400" fill="norm" stroke="1" extrusionOk="0">
                <a:moveTo>
                  <a:pt x="12700" y="12700"/>
                </a:moveTo>
                <a:lnTo>
                  <a:pt x="50800" y="12700"/>
                </a:lnTo>
              </a:path>
              <a:path w="50800" h="25400" fill="norm" stroke="1" extrusionOk="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68637769" name="bg object 25"/>
          <p:cNvSpPr/>
          <p:nvPr/>
        </p:nvSpPr>
        <p:spPr bwMode="auto">
          <a:xfrm>
            <a:off x="3802393" y="3257613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 fill="norm" stroke="1" extrusionOk="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 fill="norm" stroke="1" extrusionOk="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40381027" name="bg object 26"/>
          <p:cNvSpPr/>
          <p:nvPr/>
        </p:nvSpPr>
        <p:spPr bwMode="auto">
          <a:xfrm>
            <a:off x="3878593" y="3289363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12700" fill="norm" stroke="1" extrusionOk="0">
                <a:moveTo>
                  <a:pt x="12700" y="12699"/>
                </a:moveTo>
                <a:lnTo>
                  <a:pt x="50800" y="12699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98690521" name="bg object 27"/>
          <p:cNvSpPr/>
          <p:nvPr/>
        </p:nvSpPr>
        <p:spPr bwMode="auto">
          <a:xfrm>
            <a:off x="4149573" y="3251262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 fill="norm" stroke="1" extrusionOk="0">
                <a:moveTo>
                  <a:pt x="0" y="0"/>
                </a:moveTo>
                <a:lnTo>
                  <a:pt x="38100" y="0"/>
                </a:lnTo>
              </a:path>
              <a:path w="50800" h="50800" fill="norm" stroke="1" extrusionOk="0">
                <a:moveTo>
                  <a:pt x="12700" y="12700"/>
                </a:moveTo>
                <a:lnTo>
                  <a:pt x="50800" y="12700"/>
                </a:lnTo>
              </a:path>
              <a:path w="50800" h="50800" fill="norm" stroke="1" extrusionOk="0">
                <a:moveTo>
                  <a:pt x="12700" y="25400"/>
                </a:moveTo>
                <a:lnTo>
                  <a:pt x="50800" y="25400"/>
                </a:lnTo>
              </a:path>
              <a:path w="50800" h="50800" fill="norm" stroke="1" extrusionOk="0">
                <a:moveTo>
                  <a:pt x="0" y="38100"/>
                </a:moveTo>
                <a:lnTo>
                  <a:pt x="38100" y="38100"/>
                </a:lnTo>
              </a:path>
              <a:path w="50800" h="50800" fill="norm" stroke="1" extrusionOk="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2130528704" name="bg object 28"/>
          <p:cNvSpPr/>
          <p:nvPr/>
        </p:nvSpPr>
        <p:spPr bwMode="auto">
          <a:xfrm>
            <a:off x="4451033" y="3281743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 fill="norm" stroke="1" extrusionOk="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894744849" name="bg object 29"/>
          <p:cNvSpPr/>
          <p:nvPr/>
        </p:nvSpPr>
        <p:spPr bwMode="auto">
          <a:xfrm>
            <a:off x="4423969" y="3255248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 fill="norm" stroke="1" extrusionOk="0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60493681" name="bg object 30"/>
          <p:cNvSpPr/>
          <p:nvPr/>
        </p:nvSpPr>
        <p:spPr bwMode="auto">
          <a:xfrm>
            <a:off x="4329112" y="3251262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 fill="norm" stroke="1" extrusionOk="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 fill="norm" stroke="1" extrusionOk="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 fill="norm" stroke="1" extrusionOk="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 fill="norm" stroke="1" extrusionOk="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68982819" name="Holder 2"/>
          <p:cNvSpPr>
            <a:spLocks noGrp="1"/>
          </p:cNvSpPr>
          <p:nvPr>
            <p:ph type="title"/>
          </p:nvPr>
        </p:nvSpPr>
        <p:spPr bwMode="auto">
          <a:xfrm>
            <a:off x="95300" y="59878"/>
            <a:ext cx="274574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921173842" name="Holder 3"/>
          <p:cNvSpPr>
            <a:spLocks noGrp="1"/>
          </p:cNvSpPr>
          <p:nvPr>
            <p:ph type="body" idx="1"/>
          </p:nvPr>
        </p:nvSpPr>
        <p:spPr bwMode="auto">
          <a:xfrm>
            <a:off x="402932" y="1177098"/>
            <a:ext cx="3695700" cy="9944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50342787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3514420" y="3351784"/>
            <a:ext cx="503554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372497302" name="Holder 5"/>
          <p:cNvSpPr>
            <a:spLocks noGrp="1"/>
          </p:cNvSpPr>
          <p:nvPr>
            <p:ph type="dt" sz="half" idx="6"/>
          </p:nvPr>
        </p:nvSpPr>
        <p:spPr bwMode="auto"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/>
            </a:fld>
            <a:endParaRPr/>
          </a:p>
        </p:txBody>
      </p:sp>
      <p:sp>
        <p:nvSpPr>
          <p:cNvPr id="738909076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4339500" y="3351784"/>
            <a:ext cx="213995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#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9.jp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4.png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5.png"/><Relationship Id="rId4" Type="http://schemas.openxmlformats.org/officeDocument/2006/relationships/hyperlink" Target="http://WWW/" TargetMode="External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86064153" name="object 2" descr=""/>
          <p:cNvGrpSpPr/>
          <p:nvPr/>
        </p:nvGrpSpPr>
        <p:grpSpPr bwMode="auto">
          <a:xfrm>
            <a:off x="87743" y="681557"/>
            <a:ext cx="4483735" cy="737870"/>
            <a:chOff x="87743" y="681557"/>
            <a:chExt cx="4483735" cy="737870"/>
          </a:xfrm>
        </p:grpSpPr>
        <p:sp>
          <p:nvSpPr>
            <p:cNvPr id="3" name="object 3" descr=""/>
            <p:cNvSpPr/>
            <p:nvPr/>
          </p:nvSpPr>
          <p:spPr bwMode="auto">
            <a:xfrm>
              <a:off x="87743" y="681557"/>
              <a:ext cx="4432935" cy="82550"/>
            </a:xfrm>
            <a:custGeom>
              <a:avLst/>
              <a:gdLst/>
              <a:ahLst/>
              <a:cxnLst/>
              <a:rect l="l" t="t" r="r" b="b"/>
              <a:pathLst>
                <a:path w="4432935" h="82550" fill="norm" stroke="1" extrusionOk="0">
                  <a:moveTo>
                    <a:pt x="43817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82384"/>
                  </a:lnTo>
                  <a:lnTo>
                    <a:pt x="4432566" y="82384"/>
                  </a:lnTo>
                  <a:lnTo>
                    <a:pt x="4432566" y="50800"/>
                  </a:lnTo>
                  <a:lnTo>
                    <a:pt x="4428558" y="31075"/>
                  </a:lnTo>
                  <a:lnTo>
                    <a:pt x="4417643" y="14922"/>
                  </a:lnTo>
                  <a:lnTo>
                    <a:pt x="4401490" y="4008"/>
                  </a:lnTo>
                  <a:lnTo>
                    <a:pt x="4381765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4" name="object 4" descr=""/>
            <p:cNvSpPr/>
            <p:nvPr/>
          </p:nvSpPr>
          <p:spPr bwMode="auto">
            <a:xfrm>
              <a:off x="138544" y="744815"/>
              <a:ext cx="4432935" cy="674370"/>
            </a:xfrm>
            <a:custGeom>
              <a:avLst/>
              <a:gdLst/>
              <a:ahLst/>
              <a:cxnLst/>
              <a:rect l="l" t="t" r="r" b="b"/>
              <a:pathLst>
                <a:path w="4432935" h="674369" fill="norm" stroke="1" extrusionOk="0">
                  <a:moveTo>
                    <a:pt x="4432566" y="0"/>
                  </a:moveTo>
                  <a:lnTo>
                    <a:pt x="0" y="0"/>
                  </a:lnTo>
                  <a:lnTo>
                    <a:pt x="0" y="674283"/>
                  </a:lnTo>
                  <a:lnTo>
                    <a:pt x="4432566" y="674283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5" name="object 5" descr=""/>
            <p:cNvSpPr/>
            <p:nvPr/>
          </p:nvSpPr>
          <p:spPr bwMode="auto">
            <a:xfrm>
              <a:off x="87743" y="725979"/>
              <a:ext cx="4432935" cy="642620"/>
            </a:xfrm>
            <a:custGeom>
              <a:avLst/>
              <a:gdLst/>
              <a:ahLst/>
              <a:cxnLst/>
              <a:rect l="l" t="t" r="r" b="b"/>
              <a:pathLst>
                <a:path w="4432935" h="642619" fill="norm" stroke="1" extrusionOk="0">
                  <a:moveTo>
                    <a:pt x="4432566" y="0"/>
                  </a:moveTo>
                  <a:lnTo>
                    <a:pt x="0" y="0"/>
                  </a:lnTo>
                  <a:lnTo>
                    <a:pt x="0" y="591519"/>
                  </a:lnTo>
                  <a:lnTo>
                    <a:pt x="4008" y="611243"/>
                  </a:lnTo>
                  <a:lnTo>
                    <a:pt x="14922" y="627396"/>
                  </a:lnTo>
                  <a:lnTo>
                    <a:pt x="31075" y="638310"/>
                  </a:lnTo>
                  <a:lnTo>
                    <a:pt x="50800" y="642319"/>
                  </a:lnTo>
                  <a:lnTo>
                    <a:pt x="4381765" y="642319"/>
                  </a:lnTo>
                  <a:lnTo>
                    <a:pt x="4401490" y="638310"/>
                  </a:lnTo>
                  <a:lnTo>
                    <a:pt x="4417643" y="627396"/>
                  </a:lnTo>
                  <a:lnTo>
                    <a:pt x="4428558" y="611243"/>
                  </a:lnTo>
                  <a:lnTo>
                    <a:pt x="4432566" y="591519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84686585" name="object 6" descr=""/>
          <p:cNvSpPr txBox="1"/>
          <p:nvPr/>
        </p:nvSpPr>
        <p:spPr bwMode="auto">
          <a:xfrm>
            <a:off x="138544" y="744815"/>
            <a:ext cx="4432935" cy="674370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R="93345" algn="ctr">
              <a:lnSpc>
                <a:spcPct val="100000"/>
              </a:lnSpc>
              <a:spcBef>
                <a:spcPts val="445"/>
              </a:spcBef>
              <a:defRPr/>
            </a:pPr>
            <a:r>
              <a:rPr sz="1400" spc="-35">
                <a:latin typeface="Tahoma"/>
                <a:cs typeface="Tahoma"/>
              </a:rPr>
              <a:t>Advanced</a:t>
            </a:r>
            <a:r>
              <a:rPr sz="1400" spc="-55">
                <a:latin typeface="Tahoma"/>
                <a:cs typeface="Tahoma"/>
              </a:rPr>
              <a:t> </a:t>
            </a:r>
            <a:r>
              <a:rPr sz="1400" spc="-60">
                <a:latin typeface="Tahoma"/>
                <a:cs typeface="Tahoma"/>
              </a:rPr>
              <a:t>Recommender</a:t>
            </a:r>
            <a:r>
              <a:rPr sz="1400" spc="-50">
                <a:latin typeface="Tahoma"/>
                <a:cs typeface="Tahoma"/>
              </a:rPr>
              <a:t> </a:t>
            </a:r>
            <a:r>
              <a:rPr sz="1400" spc="-45">
                <a:latin typeface="Tahoma"/>
                <a:cs typeface="Tahoma"/>
              </a:rPr>
              <a:t>Systems</a:t>
            </a:r>
            <a:r>
              <a:rPr sz="1400" spc="-50">
                <a:latin typeface="Tahoma"/>
                <a:cs typeface="Tahoma"/>
              </a:rPr>
              <a:t> </a:t>
            </a:r>
            <a:r>
              <a:rPr sz="1400" spc="-10">
                <a:latin typeface="Tahoma"/>
                <a:cs typeface="Tahoma"/>
              </a:rPr>
              <a:t>for</a:t>
            </a:r>
            <a:r>
              <a:rPr sz="1400" spc="-55">
                <a:latin typeface="Tahoma"/>
                <a:cs typeface="Tahoma"/>
              </a:rPr>
              <a:t> E-</a:t>
            </a:r>
            <a:r>
              <a:rPr sz="1400" spc="-10">
                <a:latin typeface="Tahoma"/>
                <a:cs typeface="Tahoma"/>
              </a:rPr>
              <a:t>commerce</a:t>
            </a:r>
            <a:endParaRPr sz="1400">
              <a:latin typeface="Tahoma"/>
              <a:cs typeface="Tahoma"/>
            </a:endParaRPr>
          </a:p>
          <a:p>
            <a:pPr marR="93345" algn="ctr">
              <a:lnSpc>
                <a:spcPct val="100000"/>
              </a:lnSpc>
              <a:spcBef>
                <a:spcPts val="325"/>
              </a:spcBef>
              <a:defRPr/>
            </a:pPr>
            <a:r>
              <a:rPr sz="1100" spc="55">
                <a:latin typeface="Tahoma"/>
                <a:cs typeface="Tahoma"/>
              </a:rPr>
              <a:t>A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Comparative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Study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of</a:t>
            </a:r>
            <a:r>
              <a:rPr sz="1100" spc="-25">
                <a:latin typeface="Tahoma"/>
                <a:cs typeface="Tahoma"/>
              </a:rPr>
              <a:t> Classical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and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Neural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Approaches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61101920" name="object 7" descr=""/>
          <p:cNvSpPr txBox="1"/>
          <p:nvPr/>
        </p:nvSpPr>
        <p:spPr bwMode="auto">
          <a:xfrm>
            <a:off x="1191920" y="1578380"/>
            <a:ext cx="2224405" cy="9556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  <a:defRPr/>
            </a:pPr>
            <a:r>
              <a:rPr sz="1100" spc="-30">
                <a:latin typeface="Tahoma"/>
                <a:cs typeface="Tahoma"/>
              </a:rPr>
              <a:t>Angsar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Shaumen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10"/>
              </a:spcBef>
              <a:defRPr/>
            </a:pPr>
            <a:endParaRPr sz="1100">
              <a:latin typeface="Tahoma"/>
              <a:cs typeface="Tahoma"/>
            </a:endParaRPr>
          </a:p>
          <a:p>
            <a:pPr algn="ctr">
              <a:lnSpc>
                <a:spcPts val="955"/>
              </a:lnSpc>
              <a:defRPr/>
            </a:pPr>
            <a:r>
              <a:rPr sz="800">
                <a:latin typeface="Tahoma"/>
                <a:cs typeface="Tahoma"/>
              </a:rPr>
              <a:t>Astana</a:t>
            </a:r>
            <a:r>
              <a:rPr sz="800" spc="60">
                <a:latin typeface="Tahoma"/>
                <a:cs typeface="Tahoma"/>
              </a:rPr>
              <a:t> </a:t>
            </a:r>
            <a:r>
              <a:rPr sz="800">
                <a:latin typeface="Tahoma"/>
                <a:cs typeface="Tahoma"/>
              </a:rPr>
              <a:t>IT</a:t>
            </a:r>
            <a:r>
              <a:rPr sz="800" spc="65">
                <a:latin typeface="Tahoma"/>
                <a:cs typeface="Tahoma"/>
              </a:rPr>
              <a:t> </a:t>
            </a:r>
            <a:r>
              <a:rPr sz="800" spc="-10">
                <a:latin typeface="Tahoma"/>
                <a:cs typeface="Tahoma"/>
              </a:rPr>
              <a:t>University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ts val="955"/>
              </a:lnSpc>
              <a:defRPr/>
            </a:pPr>
            <a:r>
              <a:rPr sz="800">
                <a:latin typeface="Tahoma"/>
                <a:cs typeface="Tahoma"/>
              </a:rPr>
              <a:t>School</a:t>
            </a:r>
            <a:r>
              <a:rPr sz="800" spc="65">
                <a:latin typeface="Tahoma"/>
                <a:cs typeface="Tahoma"/>
              </a:rPr>
              <a:t> </a:t>
            </a:r>
            <a:r>
              <a:rPr sz="800">
                <a:latin typeface="Tahoma"/>
                <a:cs typeface="Tahoma"/>
              </a:rPr>
              <a:t>of</a:t>
            </a:r>
            <a:r>
              <a:rPr sz="800" spc="65">
                <a:latin typeface="Tahoma"/>
                <a:cs typeface="Tahoma"/>
              </a:rPr>
              <a:t> </a:t>
            </a:r>
            <a:r>
              <a:rPr sz="800">
                <a:latin typeface="Tahoma"/>
                <a:cs typeface="Tahoma"/>
              </a:rPr>
              <a:t>Artificial</a:t>
            </a:r>
            <a:r>
              <a:rPr sz="800" spc="70">
                <a:latin typeface="Tahoma"/>
                <a:cs typeface="Tahoma"/>
              </a:rPr>
              <a:t> </a:t>
            </a:r>
            <a:r>
              <a:rPr sz="800" spc="-20">
                <a:latin typeface="Tahoma"/>
                <a:cs typeface="Tahoma"/>
              </a:rPr>
              <a:t>Intelligence</a:t>
            </a:r>
            <a:r>
              <a:rPr sz="800" spc="65">
                <a:latin typeface="Tahoma"/>
                <a:cs typeface="Tahoma"/>
              </a:rPr>
              <a:t> </a:t>
            </a:r>
            <a:r>
              <a:rPr sz="800">
                <a:latin typeface="Tahoma"/>
                <a:cs typeface="Tahoma"/>
              </a:rPr>
              <a:t>and</a:t>
            </a:r>
            <a:r>
              <a:rPr sz="800" spc="65">
                <a:latin typeface="Tahoma"/>
                <a:cs typeface="Tahoma"/>
              </a:rPr>
              <a:t> </a:t>
            </a:r>
            <a:r>
              <a:rPr sz="800">
                <a:latin typeface="Tahoma"/>
                <a:cs typeface="Tahoma"/>
              </a:rPr>
              <a:t>Data</a:t>
            </a:r>
            <a:r>
              <a:rPr sz="800" spc="70">
                <a:latin typeface="Tahoma"/>
                <a:cs typeface="Tahoma"/>
              </a:rPr>
              <a:t> </a:t>
            </a:r>
            <a:r>
              <a:rPr sz="800" spc="-10">
                <a:latin typeface="Tahoma"/>
                <a:cs typeface="Tahoma"/>
              </a:rPr>
              <a:t>Science</a:t>
            </a:r>
            <a:endParaRPr sz="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380"/>
              </a:spcBef>
              <a:defRPr/>
            </a:pP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defRPr/>
            </a:pPr>
            <a:r>
              <a:rPr sz="1100" spc="-45">
                <a:latin typeface="Tahoma"/>
                <a:cs typeface="Tahoma"/>
              </a:rPr>
              <a:t>February</a:t>
            </a:r>
            <a:r>
              <a:rPr sz="1100" spc="-40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2026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74099105" name="object 8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83838159" name="object 15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819691718" name="object 16" descr="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4339499" y="3351783"/>
            <a:ext cx="21435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r>
              <a:rPr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9223846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20"/>
              <a:t>Problem</a:t>
            </a:r>
            <a:r>
              <a:rPr spc="-5"/>
              <a:t> </a:t>
            </a:r>
            <a:r>
              <a:rPr spc="120"/>
              <a:t>&amp;</a:t>
            </a:r>
            <a:r>
              <a:rPr/>
              <a:t> </a:t>
            </a:r>
            <a:r>
              <a:rPr spc="-10"/>
              <a:t>Motivation</a:t>
            </a:r>
            <a:endParaRPr/>
          </a:p>
        </p:txBody>
      </p:sp>
      <p:pic>
        <p:nvPicPr>
          <p:cNvPr id="247542061" name="object 3" descr=""/>
          <p:cNvPicPr/>
          <p:nvPr/>
        </p:nvPicPr>
        <p:blipFill rotWithShape="1">
          <a:blip r:embed="rId3"/>
          <a:stretch/>
        </p:blipFill>
        <p:spPr bwMode="auto">
          <a:xfrm>
            <a:off x="281089" y="1214501"/>
            <a:ext cx="65265" cy="65265"/>
          </a:xfrm>
          <a:prstGeom prst="rect">
            <a:avLst/>
          </a:prstGeom>
        </p:spPr>
      </p:pic>
      <p:pic>
        <p:nvPicPr>
          <p:cNvPr id="222252317" name="object 4" descr=""/>
          <p:cNvPicPr/>
          <p:nvPr/>
        </p:nvPicPr>
        <p:blipFill rotWithShape="1">
          <a:blip r:embed="rId4"/>
          <a:stretch/>
        </p:blipFill>
        <p:spPr bwMode="auto">
          <a:xfrm>
            <a:off x="281089" y="1424533"/>
            <a:ext cx="65265" cy="65265"/>
          </a:xfrm>
          <a:prstGeom prst="rect">
            <a:avLst/>
          </a:prstGeom>
        </p:spPr>
      </p:pic>
      <p:pic>
        <p:nvPicPr>
          <p:cNvPr id="139018048" name="object 5" descr=""/>
          <p:cNvPicPr/>
          <p:nvPr/>
        </p:nvPicPr>
        <p:blipFill rotWithShape="1">
          <a:blip r:embed="rId5"/>
          <a:stretch/>
        </p:blipFill>
        <p:spPr bwMode="auto">
          <a:xfrm>
            <a:off x="281089" y="1634566"/>
            <a:ext cx="65265" cy="65265"/>
          </a:xfrm>
          <a:prstGeom prst="rect">
            <a:avLst/>
          </a:prstGeom>
        </p:spPr>
      </p:pic>
      <p:sp>
        <p:nvSpPr>
          <p:cNvPr id="638515465" name="object 6" descr=""/>
          <p:cNvSpPr txBox="1"/>
          <p:nvPr/>
        </p:nvSpPr>
        <p:spPr bwMode="auto">
          <a:xfrm flipH="0" flipV="0">
            <a:off x="125843" y="1137585"/>
            <a:ext cx="4428730" cy="1231389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289560" marR="1045210">
              <a:lnSpc>
                <a:spcPct val="125299"/>
              </a:lnSpc>
              <a:spcBef>
                <a:spcPts val="100"/>
              </a:spcBef>
              <a:defRPr/>
            </a:pPr>
            <a:r>
              <a:rPr sz="1100" spc="-55">
                <a:latin typeface="Tahoma"/>
                <a:cs typeface="Tahoma"/>
              </a:rPr>
              <a:t>Recommender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50">
                <a:latin typeface="Tahoma"/>
                <a:cs typeface="Tahoma"/>
              </a:rPr>
              <a:t>systems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60">
                <a:latin typeface="Tahoma"/>
                <a:cs typeface="Tahoma"/>
              </a:rPr>
              <a:t>are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critical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for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75">
                <a:latin typeface="Tahoma"/>
                <a:cs typeface="Tahoma"/>
              </a:rPr>
              <a:t>e-</a:t>
            </a:r>
            <a:r>
              <a:rPr sz="1100" spc="-55">
                <a:latin typeface="Tahoma"/>
                <a:cs typeface="Tahoma"/>
              </a:rPr>
              <a:t>commerce </a:t>
            </a:r>
            <a:endParaRPr sz="1100" spc="-34">
              <a:latin typeface="Tahoma"/>
              <a:cs typeface="Tahoma"/>
            </a:endParaRPr>
          </a:p>
          <a:p>
            <a:pPr marL="289559" marR="1045209">
              <a:lnSpc>
                <a:spcPct val="125299"/>
              </a:lnSpc>
              <a:spcBef>
                <a:spcPts val="99"/>
              </a:spcBef>
              <a:defRPr/>
            </a:pPr>
            <a:r>
              <a:rPr sz="1100" spc="-34">
                <a:latin typeface="Tahoma"/>
                <a:cs typeface="Tahoma"/>
              </a:rPr>
              <a:t>Challenge:</a:t>
            </a:r>
            <a:r>
              <a:rPr sz="1100" spc="34">
                <a:latin typeface="Tahoma"/>
                <a:cs typeface="Tahoma"/>
              </a:rPr>
              <a:t> </a:t>
            </a:r>
            <a:r>
              <a:rPr sz="1100" spc="-34">
                <a:latin typeface="Tahoma"/>
                <a:cs typeface="Tahoma"/>
              </a:rPr>
              <a:t>Learning</a:t>
            </a:r>
            <a:r>
              <a:rPr sz="1100" spc="-39">
                <a:latin typeface="Tahoma"/>
                <a:cs typeface="Tahoma"/>
              </a:rPr>
              <a:t> </a:t>
            </a:r>
            <a:r>
              <a:rPr sz="1100" spc="-19">
                <a:latin typeface="Tahoma"/>
                <a:cs typeface="Tahoma"/>
              </a:rPr>
              <a:t>from</a:t>
            </a:r>
            <a:r>
              <a:rPr sz="1100" spc="-39">
                <a:latin typeface="Tahoma"/>
                <a:cs typeface="Tahoma"/>
              </a:rPr>
              <a:t> </a:t>
            </a:r>
            <a:r>
              <a:rPr sz="1100" spc="-64">
                <a:latin typeface="Tahoma"/>
                <a:cs typeface="Tahoma"/>
              </a:rPr>
              <a:t>sparse</a:t>
            </a:r>
            <a:r>
              <a:rPr sz="1100" spc="-24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implicit</a:t>
            </a:r>
            <a:r>
              <a:rPr sz="1100" spc="-45">
                <a:latin typeface="Tahoma"/>
                <a:cs typeface="Tahoma"/>
              </a:rPr>
              <a:t> </a:t>
            </a:r>
            <a:r>
              <a:rPr sz="1100" spc="-39">
                <a:latin typeface="Tahoma"/>
                <a:cs typeface="Tahoma"/>
              </a:rPr>
              <a:t>feedback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5"/>
              </a:spcBef>
              <a:defRPr/>
            </a:pPr>
            <a:r>
              <a:rPr sz="1100" spc="-30">
                <a:latin typeface="Tahoma"/>
                <a:cs typeface="Tahoma"/>
              </a:rPr>
              <a:t>Question:</a:t>
            </a:r>
            <a:r>
              <a:rPr sz="1100" spc="55">
                <a:latin typeface="Tahoma"/>
                <a:cs typeface="Tahoma"/>
              </a:rPr>
              <a:t> </a:t>
            </a:r>
            <a:r>
              <a:rPr sz="1100" b="1">
                <a:latin typeface="Arial"/>
                <a:cs typeface="Arial"/>
              </a:rPr>
              <a:t>Do</a:t>
            </a:r>
            <a:r>
              <a:rPr sz="1100" b="1" spc="25">
                <a:latin typeface="Arial"/>
                <a:cs typeface="Arial"/>
              </a:rPr>
              <a:t> </a:t>
            </a:r>
            <a:r>
              <a:rPr sz="1100" b="1" spc="-30">
                <a:latin typeface="Arial"/>
                <a:cs typeface="Arial"/>
              </a:rPr>
              <a:t>neural</a:t>
            </a:r>
            <a:r>
              <a:rPr sz="1100" b="1" spc="25">
                <a:latin typeface="Arial"/>
                <a:cs typeface="Arial"/>
              </a:rPr>
              <a:t> </a:t>
            </a:r>
            <a:r>
              <a:rPr sz="1100" b="1" spc="-50">
                <a:latin typeface="Arial"/>
                <a:cs typeface="Arial"/>
              </a:rPr>
              <a:t>models</a:t>
            </a:r>
            <a:r>
              <a:rPr sz="1100" b="1" spc="30">
                <a:latin typeface="Arial"/>
                <a:cs typeface="Arial"/>
              </a:rPr>
              <a:t> </a:t>
            </a:r>
            <a:r>
              <a:rPr sz="1100" b="1" spc="-30">
                <a:latin typeface="Arial"/>
                <a:cs typeface="Arial"/>
              </a:rPr>
              <a:t>outperform</a:t>
            </a:r>
            <a:r>
              <a:rPr sz="1100" b="1" spc="30">
                <a:latin typeface="Arial"/>
                <a:cs typeface="Arial"/>
              </a:rPr>
              <a:t> </a:t>
            </a:r>
            <a:r>
              <a:rPr sz="1100" b="1" spc="-65">
                <a:latin typeface="Arial"/>
                <a:cs typeface="Arial"/>
              </a:rPr>
              <a:t>classical</a:t>
            </a:r>
            <a:r>
              <a:rPr sz="1100" b="1" spc="30">
                <a:latin typeface="Arial"/>
                <a:cs typeface="Arial"/>
              </a:rPr>
              <a:t> </a:t>
            </a:r>
            <a:r>
              <a:rPr sz="1100" b="1" spc="-10">
                <a:latin typeface="Arial"/>
                <a:cs typeface="Arial"/>
              </a:rPr>
              <a:t>approaches?</a:t>
            </a:r>
            <a:endParaRPr sz="11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0"/>
              </a:spcBef>
              <a:defRPr/>
            </a:pPr>
            <a:endParaRPr sz="1100">
              <a:latin typeface="Arial"/>
              <a:cs typeface="Arial"/>
            </a:endParaRPr>
          </a:p>
          <a:p>
            <a:pPr marL="12700" marR="5080">
              <a:lnSpc>
                <a:spcPct val="102699"/>
              </a:lnSpc>
              <a:defRPr/>
            </a:pPr>
            <a:r>
              <a:rPr sz="1100" b="1" spc="-60">
                <a:latin typeface="Arial"/>
                <a:cs typeface="Arial"/>
              </a:rPr>
              <a:t>Research</a:t>
            </a:r>
            <a:r>
              <a:rPr sz="1100" b="1" spc="60">
                <a:latin typeface="Arial"/>
                <a:cs typeface="Arial"/>
              </a:rPr>
              <a:t> </a:t>
            </a:r>
            <a:r>
              <a:rPr sz="1100" b="1" spc="-20">
                <a:latin typeface="Arial"/>
                <a:cs typeface="Arial"/>
              </a:rPr>
              <a:t>Goal:</a:t>
            </a:r>
            <a:r>
              <a:rPr sz="1100" b="1" spc="140">
                <a:latin typeface="Arial"/>
                <a:cs typeface="Arial"/>
              </a:rPr>
              <a:t> </a:t>
            </a:r>
            <a:r>
              <a:rPr sz="1100" spc="-45">
                <a:latin typeface="Tahoma"/>
                <a:cs typeface="Tahoma"/>
              </a:rPr>
              <a:t>Compare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classical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(MF)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vs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neural</a:t>
            </a:r>
            <a:r>
              <a:rPr sz="1100" spc="-1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(NCF)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 spc="-50">
                <a:latin typeface="Tahoma"/>
                <a:cs typeface="Tahoma"/>
              </a:rPr>
              <a:t>under</a:t>
            </a:r>
            <a:r>
              <a:rPr sz="1100" spc="-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realistic constraints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02756185" name="object 7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8" name="object 8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75461541" name="object 14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733170311" name="object 15" descr="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4339499" y="3351783"/>
            <a:ext cx="21435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4552663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65"/>
              <a:t>Research</a:t>
            </a:r>
            <a:r>
              <a:rPr spc="20"/>
              <a:t> </a:t>
            </a:r>
            <a:r>
              <a:rPr spc="-35"/>
              <a:t>Questions</a:t>
            </a:r>
            <a:endParaRPr/>
          </a:p>
        </p:txBody>
      </p:sp>
      <p:pic>
        <p:nvPicPr>
          <p:cNvPr id="1495118830" name="object 3" descr=""/>
          <p:cNvPicPr/>
          <p:nvPr/>
        </p:nvPicPr>
        <p:blipFill rotWithShape="1">
          <a:blip r:embed="rId3"/>
          <a:stretch/>
        </p:blipFill>
        <p:spPr bwMode="auto">
          <a:xfrm>
            <a:off x="227671" y="1218277"/>
            <a:ext cx="114214" cy="114214"/>
          </a:xfrm>
          <a:prstGeom prst="rect">
            <a:avLst/>
          </a:prstGeom>
        </p:spPr>
      </p:pic>
      <p:sp>
        <p:nvSpPr>
          <p:cNvPr id="1977990408" name="object 4" descr=""/>
          <p:cNvSpPr txBox="1"/>
          <p:nvPr/>
        </p:nvSpPr>
        <p:spPr bwMode="auto">
          <a:xfrm>
            <a:off x="251928" y="1205345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15545600" name="object 5" descr=""/>
          <p:cNvSpPr txBox="1">
            <a:spLocks noGrp="1"/>
          </p:cNvSpPr>
          <p:nvPr>
            <p:ph type="body" idx="1"/>
          </p:nvPr>
        </p:nvSpPr>
        <p:spPr bwMode="auto">
          <a:xfrm flipH="0" flipV="0">
            <a:off x="402931" y="1177097"/>
            <a:ext cx="4044465" cy="981629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  <a:defRPr/>
            </a:pPr>
            <a:r>
              <a:rPr sz="1100" spc="-20">
                <a:latin typeface="Tahoma"/>
                <a:cs typeface="Tahoma"/>
              </a:rPr>
              <a:t>How</a:t>
            </a:r>
            <a:r>
              <a:rPr sz="1100" spc="-5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do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25">
                <a:latin typeface="Tahoma"/>
                <a:cs typeface="Tahoma"/>
              </a:rPr>
              <a:t>classical</a:t>
            </a:r>
            <a:r>
              <a:rPr sz="1100" spc="-35">
                <a:latin typeface="Tahoma"/>
                <a:cs typeface="Tahoma"/>
              </a:rPr>
              <a:t> and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neural </a:t>
            </a:r>
            <a:r>
              <a:rPr sz="1100" spc="-60">
                <a:latin typeface="Tahoma"/>
                <a:cs typeface="Tahoma"/>
              </a:rPr>
              <a:t>recommenders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60">
                <a:latin typeface="Tahoma"/>
                <a:cs typeface="Tahoma"/>
              </a:rPr>
              <a:t>compare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on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ranking </a:t>
            </a:r>
            <a:r>
              <a:rPr sz="1100" spc="-10">
                <a:latin typeface="Tahoma"/>
                <a:cs typeface="Tahoma"/>
              </a:rPr>
              <a:t>metrics?</a:t>
            </a:r>
            <a:endParaRPr sz="1100">
              <a:latin typeface="Tahoma"/>
              <a:cs typeface="Tahoma"/>
            </a:endParaRPr>
          </a:p>
          <a:p>
            <a:pPr marL="12700" marR="382270">
              <a:lnSpc>
                <a:spcPct val="125299"/>
              </a:lnSpc>
              <a:defRPr/>
            </a:pPr>
            <a:r>
              <a:rPr sz="1100" spc="-25">
                <a:latin typeface="Tahoma"/>
                <a:cs typeface="Tahoma"/>
              </a:rPr>
              <a:t>Does</a:t>
            </a:r>
            <a:r>
              <a:rPr sz="1100" spc="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NCF</a:t>
            </a:r>
            <a:r>
              <a:rPr sz="1100" spc="15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consistently</a:t>
            </a:r>
            <a:r>
              <a:rPr sz="1100" spc="10">
                <a:latin typeface="Tahoma"/>
                <a:cs typeface="Tahoma"/>
              </a:rPr>
              <a:t> </a:t>
            </a:r>
            <a:r>
              <a:rPr sz="1100" spc="-40">
                <a:latin typeface="Tahoma"/>
                <a:cs typeface="Tahoma"/>
              </a:rPr>
              <a:t>outperform</a:t>
            </a:r>
            <a:r>
              <a:rPr sz="1100" spc="1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Matrix</a:t>
            </a:r>
            <a:r>
              <a:rPr sz="1100" spc="15">
                <a:latin typeface="Tahoma"/>
                <a:cs typeface="Tahoma"/>
              </a:rPr>
              <a:t> </a:t>
            </a:r>
            <a:r>
              <a:rPr sz="1100" spc="-25">
                <a:latin typeface="Tahoma"/>
                <a:cs typeface="Tahoma"/>
              </a:rPr>
              <a:t>Factorization? </a:t>
            </a:r>
            <a:r>
              <a:rPr sz="1100" spc="-20">
                <a:latin typeface="Tahoma"/>
                <a:cs typeface="Tahoma"/>
              </a:rPr>
              <a:t>How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do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50">
                <a:latin typeface="Tahoma"/>
                <a:cs typeface="Tahoma"/>
              </a:rPr>
              <a:t>models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60">
                <a:latin typeface="Tahoma"/>
                <a:cs typeface="Tahoma"/>
              </a:rPr>
              <a:t>behave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50">
                <a:latin typeface="Tahoma"/>
                <a:cs typeface="Tahoma"/>
              </a:rPr>
              <a:t>under</a:t>
            </a:r>
            <a:r>
              <a:rPr sz="1100" spc="-20">
                <a:latin typeface="Tahoma"/>
                <a:cs typeface="Tahoma"/>
              </a:rPr>
              <a:t> </a:t>
            </a:r>
            <a:r>
              <a:rPr sz="1100" spc="-50">
                <a:latin typeface="Tahoma"/>
                <a:cs typeface="Tahoma"/>
              </a:rPr>
              <a:t>extreme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sparsity?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  <a:defRPr/>
            </a:pPr>
            <a:r>
              <a:rPr sz="1100">
                <a:latin typeface="Tahoma"/>
                <a:cs typeface="Tahoma"/>
              </a:rPr>
              <a:t>What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50">
                <a:latin typeface="Tahoma"/>
                <a:cs typeface="Tahoma"/>
              </a:rPr>
              <a:t>are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the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computational </a:t>
            </a:r>
            <a:r>
              <a:rPr sz="1100" spc="-50">
                <a:latin typeface="Tahoma"/>
                <a:cs typeface="Tahoma"/>
              </a:rPr>
              <a:t>trade-</a:t>
            </a:r>
            <a:r>
              <a:rPr sz="1100" spc="-10">
                <a:latin typeface="Tahoma"/>
                <a:cs typeface="Tahoma"/>
              </a:rPr>
              <a:t>offs?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87964026" name="object 6" descr=""/>
          <p:cNvPicPr/>
          <p:nvPr/>
        </p:nvPicPr>
        <p:blipFill rotWithShape="1">
          <a:blip r:embed="rId4"/>
          <a:stretch/>
        </p:blipFill>
        <p:spPr bwMode="auto">
          <a:xfrm flipH="0" flipV="0">
            <a:off x="227671" y="1571794"/>
            <a:ext cx="114213" cy="114213"/>
          </a:xfrm>
          <a:prstGeom prst="rect">
            <a:avLst/>
          </a:prstGeom>
        </p:spPr>
      </p:pic>
      <p:sp>
        <p:nvSpPr>
          <p:cNvPr id="762045205" name="object 7" descr=""/>
          <p:cNvSpPr txBox="1"/>
          <p:nvPr/>
        </p:nvSpPr>
        <p:spPr bwMode="auto">
          <a:xfrm flipH="0" flipV="0">
            <a:off x="251916" y="1558873"/>
            <a:ext cx="66759" cy="103864"/>
          </a:xfrm>
          <a:prstGeom prst="rect">
            <a:avLst/>
          </a:prstGeom>
        </p:spPr>
        <p:txBody>
          <a:bodyPr vert="horz" wrap="square" lIns="0" tIns="120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2084754485" name="object 8" descr=""/>
          <p:cNvPicPr/>
          <p:nvPr/>
        </p:nvPicPr>
        <p:blipFill rotWithShape="1">
          <a:blip r:embed="rId5"/>
          <a:stretch/>
        </p:blipFill>
        <p:spPr bwMode="auto">
          <a:xfrm>
            <a:off x="227671" y="1777848"/>
            <a:ext cx="114214" cy="114214"/>
          </a:xfrm>
          <a:prstGeom prst="rect">
            <a:avLst/>
          </a:prstGeom>
        </p:spPr>
      </p:pic>
      <p:sp>
        <p:nvSpPr>
          <p:cNvPr id="1880860996" name="object 9" descr=""/>
          <p:cNvSpPr txBox="1"/>
          <p:nvPr/>
        </p:nvSpPr>
        <p:spPr bwMode="auto">
          <a:xfrm>
            <a:off x="251916" y="176492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252978774" name="object 10" descr=""/>
          <p:cNvPicPr/>
          <p:nvPr/>
        </p:nvPicPr>
        <p:blipFill rotWithShape="1">
          <a:blip r:embed="rId6"/>
          <a:stretch/>
        </p:blipFill>
        <p:spPr bwMode="auto">
          <a:xfrm>
            <a:off x="227671" y="2020459"/>
            <a:ext cx="114214" cy="114214"/>
          </a:xfrm>
          <a:prstGeom prst="rect">
            <a:avLst/>
          </a:prstGeom>
        </p:spPr>
      </p:pic>
      <p:sp>
        <p:nvSpPr>
          <p:cNvPr id="2032865817" name="object 11" descr=""/>
          <p:cNvSpPr txBox="1"/>
          <p:nvPr/>
        </p:nvSpPr>
        <p:spPr bwMode="auto">
          <a:xfrm>
            <a:off x="251916" y="200753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700234806" name="object 12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" name="object 15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38298007" name="object 19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132545151" name="object 20" descr="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4339499" y="3351783"/>
            <a:ext cx="21435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656114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20"/>
              <a:t>Dataset:</a:t>
            </a:r>
            <a:r>
              <a:rPr spc="50"/>
              <a:t> </a:t>
            </a:r>
            <a:r>
              <a:rPr spc="-20"/>
              <a:t>Amazon</a:t>
            </a:r>
            <a:r>
              <a:rPr spc="-65"/>
              <a:t> </a:t>
            </a:r>
            <a:r>
              <a:rPr spc="-60"/>
              <a:t>Headphones</a:t>
            </a:r>
            <a:endParaRPr/>
          </a:p>
        </p:txBody>
      </p:sp>
      <p:pic>
        <p:nvPicPr>
          <p:cNvPr id="2003833114" name="object 3" descr=""/>
          <p:cNvPicPr/>
          <p:nvPr/>
        </p:nvPicPr>
        <p:blipFill rotWithShape="1">
          <a:blip r:embed="rId3"/>
          <a:stretch/>
        </p:blipFill>
        <p:spPr bwMode="auto">
          <a:xfrm flipH="0" flipV="1">
            <a:off x="234910" y="1360233"/>
            <a:ext cx="65264" cy="65264"/>
          </a:xfrm>
          <a:prstGeom prst="rect">
            <a:avLst/>
          </a:prstGeom>
        </p:spPr>
      </p:pic>
      <p:pic>
        <p:nvPicPr>
          <p:cNvPr id="1141610867" name="object 4" descr=""/>
          <p:cNvPicPr/>
          <p:nvPr/>
        </p:nvPicPr>
        <p:blipFill rotWithShape="1">
          <a:blip r:embed="rId4"/>
          <a:stretch/>
        </p:blipFill>
        <p:spPr bwMode="auto">
          <a:xfrm flipH="0" flipV="1">
            <a:off x="234910" y="1570266"/>
            <a:ext cx="65264" cy="65264"/>
          </a:xfrm>
          <a:prstGeom prst="rect">
            <a:avLst/>
          </a:prstGeom>
        </p:spPr>
      </p:pic>
      <p:pic>
        <p:nvPicPr>
          <p:cNvPr id="833585471" name="object 5" descr=""/>
          <p:cNvPicPr/>
          <p:nvPr/>
        </p:nvPicPr>
        <p:blipFill rotWithShape="1">
          <a:blip r:embed="rId5"/>
          <a:stretch/>
        </p:blipFill>
        <p:spPr bwMode="auto">
          <a:xfrm flipH="0" flipV="1">
            <a:off x="234910" y="1812931"/>
            <a:ext cx="65264" cy="65264"/>
          </a:xfrm>
          <a:prstGeom prst="rect">
            <a:avLst/>
          </a:prstGeom>
        </p:spPr>
      </p:pic>
      <p:pic>
        <p:nvPicPr>
          <p:cNvPr id="1716565167" name="object 6" descr=""/>
          <p:cNvPicPr/>
          <p:nvPr/>
        </p:nvPicPr>
        <p:blipFill rotWithShape="1">
          <a:blip r:embed="rId6"/>
          <a:stretch/>
        </p:blipFill>
        <p:spPr bwMode="auto">
          <a:xfrm flipH="0" flipV="1">
            <a:off x="234910" y="2022963"/>
            <a:ext cx="65264" cy="65264"/>
          </a:xfrm>
          <a:prstGeom prst="rect">
            <a:avLst/>
          </a:prstGeom>
        </p:spPr>
      </p:pic>
      <p:sp>
        <p:nvSpPr>
          <p:cNvPr id="949113058" name="object 7" descr=""/>
          <p:cNvSpPr txBox="1"/>
          <p:nvPr/>
        </p:nvSpPr>
        <p:spPr bwMode="auto">
          <a:xfrm flipH="0" flipV="0">
            <a:off x="79666" y="1088235"/>
            <a:ext cx="2762452" cy="1062954"/>
          </a:xfrm>
          <a:prstGeom prst="rect">
            <a:avLst/>
          </a:prstGeom>
        </p:spPr>
        <p:txBody>
          <a:bodyPr vert="horz" wrap="square" lIns="0" tIns="552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defRPr/>
            </a:pPr>
            <a:r>
              <a:rPr sz="1100" b="1" spc="-60">
                <a:latin typeface="Arial"/>
                <a:cs typeface="Arial"/>
              </a:rPr>
              <a:t>Processing</a:t>
            </a:r>
            <a:r>
              <a:rPr sz="1100" b="1" spc="10">
                <a:latin typeface="Arial"/>
                <a:cs typeface="Arial"/>
              </a:rPr>
              <a:t> </a:t>
            </a:r>
            <a:r>
              <a:rPr sz="1100" b="1" spc="-10">
                <a:latin typeface="Arial"/>
                <a:cs typeface="Arial"/>
              </a:rPr>
              <a:t>Steps: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defRPr/>
            </a:pPr>
            <a:r>
              <a:rPr sz="1100">
                <a:latin typeface="Tahoma"/>
                <a:cs typeface="Tahoma"/>
              </a:rPr>
              <a:t>Filter:</a:t>
            </a:r>
            <a:r>
              <a:rPr sz="1100" spc="30">
                <a:latin typeface="Tahoma"/>
                <a:cs typeface="Tahoma"/>
              </a:rPr>
              <a:t> </a:t>
            </a:r>
            <a:r>
              <a:rPr sz="1100" spc="-50">
                <a:latin typeface="Tahoma"/>
                <a:cs typeface="Tahoma"/>
              </a:rPr>
              <a:t>Headphones</a:t>
            </a:r>
            <a:r>
              <a:rPr sz="1100" spc="-40">
                <a:latin typeface="Tahoma"/>
                <a:cs typeface="Tahoma"/>
              </a:rPr>
              <a:t> </a:t>
            </a:r>
            <a:r>
              <a:rPr sz="1100" spc="-55">
                <a:latin typeface="Tahoma"/>
                <a:cs typeface="Tahoma"/>
              </a:rPr>
              <a:t>subcategory </a:t>
            </a:r>
            <a:endParaRPr sz="1100" spc="-19">
              <a:latin typeface="Tahoma"/>
              <a:cs typeface="Tahoma"/>
            </a:endParaRPr>
          </a:p>
          <a:p>
            <a:pPr marL="289559" marR="5079">
              <a:lnSpc>
                <a:spcPct val="125299"/>
              </a:lnSpc>
              <a:defRPr/>
            </a:pPr>
            <a:r>
              <a:rPr sz="1100" spc="-19">
                <a:latin typeface="Tahoma"/>
                <a:cs typeface="Tahoma"/>
              </a:rPr>
              <a:t>Implicit</a:t>
            </a:r>
            <a:r>
              <a:rPr sz="1100" spc="-34">
                <a:latin typeface="Tahoma"/>
                <a:cs typeface="Tahoma"/>
              </a:rPr>
              <a:t> </a:t>
            </a:r>
            <a:r>
              <a:rPr sz="1100" spc="-49">
                <a:latin typeface="Tahoma"/>
                <a:cs typeface="Tahoma"/>
              </a:rPr>
              <a:t>feedback</a:t>
            </a:r>
            <a:r>
              <a:rPr sz="1100" spc="-24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(binary)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4"/>
              </a:spcBef>
              <a:defRPr/>
            </a:pPr>
            <a:r>
              <a:rPr sz="1100" spc="-50">
                <a:latin typeface="Tahoma"/>
                <a:cs typeface="Tahoma"/>
              </a:rPr>
              <a:t>5-</a:t>
            </a:r>
            <a:r>
              <a:rPr sz="1100" spc="-55">
                <a:latin typeface="Tahoma"/>
                <a:cs typeface="Tahoma"/>
              </a:rPr>
              <a:t>core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filtering</a:t>
            </a:r>
            <a:endParaRPr sz="1100">
              <a:latin typeface="Tahoma"/>
              <a:cs typeface="Tahoma"/>
            </a:endParaRPr>
          </a:p>
          <a:p>
            <a:pPr marL="289560">
              <a:lnSpc>
                <a:spcPct val="100000"/>
              </a:lnSpc>
              <a:spcBef>
                <a:spcPts val="330"/>
              </a:spcBef>
              <a:defRPr/>
            </a:pPr>
            <a:r>
              <a:rPr sz="1100" spc="-45">
                <a:latin typeface="Tahoma"/>
                <a:cs typeface="Tahoma"/>
              </a:rPr>
              <a:t>Time-</a:t>
            </a:r>
            <a:r>
              <a:rPr sz="1100" spc="-25">
                <a:latin typeface="Tahoma"/>
                <a:cs typeface="Tahoma"/>
              </a:rPr>
              <a:t>based</a:t>
            </a:r>
            <a:r>
              <a:rPr sz="1100" spc="-4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split</a:t>
            </a:r>
            <a:r>
              <a:rPr sz="1100" spc="-4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(70/15/15)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69777826" name="object 8" descr=""/>
          <p:cNvGraphicFramePr>
            <a:graphicFrameLocks xmlns:a="http://schemas.openxmlformats.org/drawingml/2006/main" noGrp="1"/>
          </p:cNvGraphicFramePr>
          <p:nvPr/>
        </p:nvGraphicFramePr>
        <p:xfrm rot="0">
          <a:off x="2808008" y="1225626"/>
          <a:ext cx="1326515" cy="90551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767079"/>
                <a:gridCol w="481963"/>
              </a:tblGrid>
              <a:tr h="225425">
                <a:tc>
                  <a:txBody>
                    <a:bodyPr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Metric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2700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Value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4765" marB="0">
                    <a:lnT w="12700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193040">
                <a:tc>
                  <a:txBody>
                    <a:bodyPr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Users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  <a:defRPr/>
                      </a:pPr>
                      <a:r>
                        <a:rPr sz="1000" spc="-25">
                          <a:latin typeface="Tahoma"/>
                          <a:cs typeface="Tahoma"/>
                        </a:rPr>
                        <a:t>368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 algn="ctr">
                      <a:solidFill>
                        <a:srgbClr val="000000"/>
                      </a:solidFill>
                    </a:lnT>
                  </a:tcPr>
                </a:tc>
              </a:tr>
              <a:tr h="151765">
                <a:tc>
                  <a:txBody>
                    <a:bodyPr/>
                    <a:p>
                      <a:pPr marL="75565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Items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75565">
                        <a:lnSpc>
                          <a:spcPts val="1050"/>
                        </a:lnSpc>
                        <a:defRPr/>
                      </a:pPr>
                      <a:r>
                        <a:rPr sz="1000" spc="-25">
                          <a:latin typeface="Tahoma"/>
                          <a:cs typeface="Tahoma"/>
                        </a:rPr>
                        <a:t>282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151765">
                <a:tc>
                  <a:txBody>
                    <a:bodyPr/>
                    <a:p>
                      <a:pPr marL="75565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Interactions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marL="75565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2,695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183515">
                <a:tc>
                  <a:txBody>
                    <a:bodyPr/>
                    <a:p>
                      <a:pPr marL="75565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Sparsity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marL="75565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97.4%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grpSp>
        <p:nvGrpSpPr>
          <p:cNvPr id="1989301344" name="object 9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89318206" name="object 16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82813318" name="object 17" descr="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4339499" y="3351783"/>
            <a:ext cx="21435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r>
              <a:rPr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4974412" name="object 2" descr=""/>
          <p:cNvSpPr/>
          <p:nvPr/>
        </p:nvSpPr>
        <p:spPr bwMode="auto"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 fill="norm" stroke="1" extrusionOk="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35583217" name="object 3" descr=""/>
          <p:cNvSpPr txBox="1"/>
          <p:nvPr/>
        </p:nvSpPr>
        <p:spPr bwMode="auto">
          <a:xfrm flipH="0" flipV="0">
            <a:off x="95299" y="59877"/>
            <a:ext cx="3334419" cy="2308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400">
                <a:latin typeface="Tahoma"/>
                <a:cs typeface="Tahoma"/>
              </a:rPr>
              <a:t>Data</a:t>
            </a:r>
            <a:r>
              <a:rPr sz="1400" spc="-35">
                <a:latin typeface="Tahoma"/>
                <a:cs typeface="Tahoma"/>
              </a:rPr>
              <a:t> </a:t>
            </a:r>
            <a:r>
              <a:rPr sz="1400" spc="-10">
                <a:latin typeface="Tahoma"/>
                <a:cs typeface="Tahoma"/>
              </a:rPr>
              <a:t>Distribution:</a:t>
            </a:r>
            <a:r>
              <a:rPr sz="1400" spc="105">
                <a:latin typeface="Tahoma"/>
                <a:cs typeface="Tahoma"/>
              </a:rPr>
              <a:t> </a:t>
            </a:r>
            <a:r>
              <a:rPr sz="1400" spc="-50">
                <a:latin typeface="Tahoma"/>
                <a:cs typeface="Tahoma"/>
              </a:rPr>
              <a:t>Long-</a:t>
            </a:r>
            <a:r>
              <a:rPr sz="1400">
                <a:latin typeface="Tahoma"/>
                <a:cs typeface="Tahoma"/>
              </a:rPr>
              <a:t>Tail</a:t>
            </a:r>
            <a:r>
              <a:rPr sz="1400" spc="-30">
                <a:latin typeface="Tahoma"/>
                <a:cs typeface="Tahoma"/>
              </a:rPr>
              <a:t> </a:t>
            </a:r>
            <a:r>
              <a:rPr sz="1400" spc="-10">
                <a:latin typeface="Tahoma"/>
                <a:cs typeface="Tahoma"/>
              </a:rPr>
              <a:t>Effect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1488283201" name="object 4" descr=""/>
          <p:cNvPicPr/>
          <p:nvPr/>
        </p:nvPicPr>
        <p:blipFill rotWithShape="1">
          <a:blip r:embed="rId3"/>
          <a:stretch/>
        </p:blipFill>
        <p:spPr bwMode="auto">
          <a:xfrm>
            <a:off x="605618" y="855248"/>
            <a:ext cx="3400286" cy="1618681"/>
          </a:xfrm>
          <a:prstGeom prst="rect">
            <a:avLst/>
          </a:prstGeom>
        </p:spPr>
      </p:pic>
      <p:sp>
        <p:nvSpPr>
          <p:cNvPr id="1649945668" name="object 5" descr=""/>
          <p:cNvSpPr txBox="1"/>
          <p:nvPr/>
        </p:nvSpPr>
        <p:spPr bwMode="auto">
          <a:xfrm flipH="0" flipV="0">
            <a:off x="125843" y="2654348"/>
            <a:ext cx="4147983" cy="1824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b="1">
                <a:latin typeface="Arial"/>
                <a:cs typeface="Arial"/>
              </a:rPr>
              <a:t>Key</a:t>
            </a:r>
            <a:r>
              <a:rPr sz="1100" b="1" spc="15">
                <a:latin typeface="Arial"/>
                <a:cs typeface="Arial"/>
              </a:rPr>
              <a:t> </a:t>
            </a:r>
            <a:r>
              <a:rPr sz="1100" b="1" spc="-20">
                <a:latin typeface="Arial"/>
                <a:cs typeface="Arial"/>
              </a:rPr>
              <a:t>Insight:</a:t>
            </a:r>
            <a:r>
              <a:rPr sz="1100" b="1" spc="80">
                <a:latin typeface="Arial"/>
                <a:cs typeface="Arial"/>
              </a:rPr>
              <a:t> </a:t>
            </a:r>
            <a:r>
              <a:rPr sz="1100" spc="-35">
                <a:latin typeface="Tahoma"/>
                <a:cs typeface="Tahoma"/>
              </a:rPr>
              <a:t>Few</a:t>
            </a:r>
            <a:r>
              <a:rPr sz="1100" spc="-50">
                <a:latin typeface="Tahoma"/>
                <a:cs typeface="Tahoma"/>
              </a:rPr>
              <a:t> </a:t>
            </a:r>
            <a:r>
              <a:rPr sz="1100" spc="-25">
                <a:latin typeface="Tahoma"/>
                <a:cs typeface="Tahoma"/>
              </a:rPr>
              <a:t>items</a:t>
            </a:r>
            <a:r>
              <a:rPr sz="1100" spc="-5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dominate</a:t>
            </a:r>
            <a:r>
              <a:rPr sz="1100" spc="-50">
                <a:latin typeface="Tahoma"/>
                <a:cs typeface="Tahoma"/>
              </a:rPr>
              <a:t> </a:t>
            </a:r>
            <a:r>
              <a:rPr sz="1100" spc="-25">
                <a:latin typeface="Tahoma"/>
                <a:cs typeface="Tahoma"/>
              </a:rPr>
              <a:t>interactions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39497254" name="object 6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802788459" name="object 13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567897306" name="object 14" descr="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4339499" y="3351783"/>
            <a:ext cx="21435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r>
              <a:rPr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310131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10"/>
              <a:t>Models</a:t>
            </a:r>
            <a:r>
              <a:rPr spc="-75"/>
              <a:t> </a:t>
            </a:r>
            <a:r>
              <a:rPr spc="-50"/>
              <a:t>Compared</a:t>
            </a:r>
            <a:endParaRPr/>
          </a:p>
        </p:txBody>
      </p:sp>
      <p:sp>
        <p:nvSpPr>
          <p:cNvPr id="177619356" name="object 3" descr=""/>
          <p:cNvSpPr/>
          <p:nvPr/>
        </p:nvSpPr>
        <p:spPr bwMode="auto">
          <a:xfrm>
            <a:off x="821651" y="1083868"/>
            <a:ext cx="2964815" cy="0"/>
          </a:xfrm>
          <a:custGeom>
            <a:avLst/>
            <a:gdLst/>
            <a:ahLst/>
            <a:cxnLst/>
            <a:rect l="l" t="t" r="r" b="b"/>
            <a:pathLst>
              <a:path w="2964815" h="0" fill="norm" stroke="1" extrusionOk="0">
                <a:moveTo>
                  <a:pt x="0" y="0"/>
                </a:moveTo>
                <a:lnTo>
                  <a:pt x="2964700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704196137" name="object 4" descr=""/>
          <p:cNvSpPr txBox="1"/>
          <p:nvPr/>
        </p:nvSpPr>
        <p:spPr bwMode="auto">
          <a:xfrm>
            <a:off x="884872" y="1098637"/>
            <a:ext cx="425450" cy="1917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b="1" spc="-20">
                <a:latin typeface="Arial"/>
                <a:cs typeface="Arial"/>
              </a:rPr>
              <a:t>Model</a:t>
            </a:r>
            <a:endParaRPr sz="1100">
              <a:latin typeface="Arial"/>
              <a:cs typeface="Arial"/>
            </a:endParaRPr>
          </a:p>
        </p:txBody>
      </p:sp>
      <p:sp>
        <p:nvSpPr>
          <p:cNvPr id="417217728" name="object 5" descr=""/>
          <p:cNvSpPr txBox="1"/>
          <p:nvPr/>
        </p:nvSpPr>
        <p:spPr bwMode="auto">
          <a:xfrm>
            <a:off x="2214813" y="1098637"/>
            <a:ext cx="336550" cy="19176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b="1" spc="-25">
                <a:latin typeface="Arial"/>
                <a:cs typeface="Arial"/>
              </a:rPr>
              <a:t>Type</a:t>
            </a:r>
            <a:endParaRPr sz="1100">
              <a:latin typeface="Arial"/>
              <a:cs typeface="Arial"/>
            </a:endParaRPr>
          </a:p>
        </p:txBody>
      </p:sp>
      <p:sp>
        <p:nvSpPr>
          <p:cNvPr id="2076794273" name="object 6" descr=""/>
          <p:cNvSpPr/>
          <p:nvPr/>
        </p:nvSpPr>
        <p:spPr bwMode="auto">
          <a:xfrm>
            <a:off x="821651" y="1329601"/>
            <a:ext cx="2964815" cy="0"/>
          </a:xfrm>
          <a:custGeom>
            <a:avLst/>
            <a:gdLst/>
            <a:ahLst/>
            <a:cxnLst/>
            <a:rect l="l" t="t" r="r" b="b"/>
            <a:pathLst>
              <a:path w="2964815" h="0" fill="norm" stroke="1" extrusionOk="0">
                <a:moveTo>
                  <a:pt x="0" y="0"/>
                </a:moveTo>
                <a:lnTo>
                  <a:pt x="2964700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41333402" name="object 7" descr=""/>
          <p:cNvSpPr txBox="1"/>
          <p:nvPr/>
        </p:nvSpPr>
        <p:spPr bwMode="auto">
          <a:xfrm flipH="0" flipV="0">
            <a:off x="884871" y="1342298"/>
            <a:ext cx="1579564" cy="702324"/>
          </a:xfrm>
          <a:prstGeom prst="rect">
            <a:avLst/>
          </a:prstGeom>
        </p:spPr>
        <p:txBody>
          <a:bodyPr vert="horz" wrap="square" lIns="0" tIns="6984" rIns="0" bIns="0" rtlCol="0">
            <a:spAutoFit/>
          </a:bodyPr>
          <a:lstStyle/>
          <a:p>
            <a:pPr marL="12700" marR="584200">
              <a:lnSpc>
                <a:spcPct val="102600"/>
              </a:lnSpc>
              <a:spcBef>
                <a:spcPts val="55"/>
              </a:spcBef>
              <a:defRPr/>
            </a:pPr>
            <a:r>
              <a:rPr sz="1100" spc="-20">
                <a:latin typeface="Tahoma"/>
                <a:cs typeface="Tahoma"/>
              </a:rPr>
              <a:t>Popularity </a:t>
            </a:r>
            <a:endParaRPr sz="1100" spc="-19">
              <a:latin typeface="Tahoma"/>
              <a:cs typeface="Tahoma"/>
            </a:endParaRPr>
          </a:p>
          <a:p>
            <a:pPr marL="12699" marR="584199">
              <a:lnSpc>
                <a:spcPct val="102600"/>
              </a:lnSpc>
              <a:spcBef>
                <a:spcPts val="54"/>
              </a:spcBef>
              <a:defRPr/>
            </a:pPr>
            <a:r>
              <a:rPr sz="1100" spc="-19">
                <a:latin typeface="Tahoma"/>
                <a:cs typeface="Tahoma"/>
              </a:rPr>
              <a:t>Item-</a:t>
            </a:r>
            <a:r>
              <a:rPr sz="1100" spc="-29">
                <a:latin typeface="Tahoma"/>
                <a:cs typeface="Tahoma"/>
              </a:rPr>
              <a:t>KNN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defRPr/>
            </a:pPr>
            <a:r>
              <a:rPr sz="1100">
                <a:latin typeface="Tahoma"/>
                <a:cs typeface="Tahoma"/>
              </a:rPr>
              <a:t>Matrix</a:t>
            </a:r>
            <a:r>
              <a:rPr sz="1100" spc="15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Factorization </a:t>
            </a:r>
            <a:r>
              <a:rPr sz="1100">
                <a:latin typeface="Tahoma"/>
                <a:cs typeface="Tahoma"/>
              </a:rPr>
              <a:t>NeuMF</a:t>
            </a:r>
            <a:r>
              <a:rPr sz="1100" spc="5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(NCF)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60239581" name="object 8" descr=""/>
          <p:cNvSpPr txBox="1"/>
          <p:nvPr/>
        </p:nvSpPr>
        <p:spPr bwMode="auto">
          <a:xfrm flipH="0" flipV="0">
            <a:off x="2214673" y="1342298"/>
            <a:ext cx="1895867" cy="695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spc="-10">
                <a:latin typeface="Tahoma"/>
                <a:cs typeface="Tahoma"/>
              </a:rPr>
              <a:t>Baseline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defRPr/>
            </a:pPr>
            <a:r>
              <a:rPr sz="1100" spc="-30">
                <a:latin typeface="Tahoma"/>
                <a:cs typeface="Tahoma"/>
              </a:rPr>
              <a:t>Collaborative</a:t>
            </a:r>
            <a:r>
              <a:rPr sz="1100" spc="3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Filtering </a:t>
            </a:r>
            <a:r>
              <a:rPr sz="1100" spc="-20">
                <a:latin typeface="Tahoma"/>
                <a:cs typeface="Tahoma"/>
              </a:rPr>
              <a:t>Classical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(Latent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Factors) </a:t>
            </a:r>
            <a:endParaRPr sz="1100" spc="-19">
              <a:latin typeface="Tahoma"/>
              <a:cs typeface="Tahoma"/>
            </a:endParaRPr>
          </a:p>
          <a:p>
            <a:pPr marL="12699" marR="5079">
              <a:lnSpc>
                <a:spcPct val="102600"/>
              </a:lnSpc>
              <a:defRPr/>
            </a:pPr>
            <a:r>
              <a:rPr sz="1100" spc="-19">
                <a:latin typeface="Tahoma"/>
                <a:cs typeface="Tahoma"/>
              </a:rPr>
              <a:t>Neural</a:t>
            </a:r>
            <a:r>
              <a:rPr sz="1100" spc="-49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Network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6850739" name="object 9" descr=""/>
          <p:cNvSpPr/>
          <p:nvPr/>
        </p:nvSpPr>
        <p:spPr bwMode="auto">
          <a:xfrm>
            <a:off x="821651" y="2091563"/>
            <a:ext cx="2964815" cy="0"/>
          </a:xfrm>
          <a:custGeom>
            <a:avLst/>
            <a:gdLst/>
            <a:ahLst/>
            <a:cxnLst/>
            <a:rect l="l" t="t" r="r" b="b"/>
            <a:pathLst>
              <a:path w="2964815" h="0" fill="norm" stroke="1" extrusionOk="0">
                <a:moveTo>
                  <a:pt x="0" y="0"/>
                </a:moveTo>
                <a:lnTo>
                  <a:pt x="2964700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697205655" name="object 10" descr=""/>
          <p:cNvSpPr txBox="1"/>
          <p:nvPr/>
        </p:nvSpPr>
        <p:spPr bwMode="auto">
          <a:xfrm flipH="0" flipV="0">
            <a:off x="125843" y="2276599"/>
            <a:ext cx="3467625" cy="1824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b="1" spc="-30">
                <a:latin typeface="Arial"/>
                <a:cs typeface="Arial"/>
              </a:rPr>
              <a:t>Evaluation:</a:t>
            </a:r>
            <a:r>
              <a:rPr sz="1100" b="1" spc="120">
                <a:latin typeface="Arial"/>
                <a:cs typeface="Arial"/>
              </a:rPr>
              <a:t> </a:t>
            </a:r>
            <a:r>
              <a:rPr sz="1100" spc="-35">
                <a:latin typeface="Tahoma"/>
                <a:cs typeface="Tahoma"/>
              </a:rPr>
              <a:t>Precision@K,</a:t>
            </a:r>
            <a:r>
              <a:rPr sz="1100" spc="-2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Recall@K,</a:t>
            </a:r>
            <a:r>
              <a:rPr sz="1100" spc="-2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NDCG@K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927856587" name="object 11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10182791" name="object 18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241972013" name="object 19" descr="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4339499" y="3351783"/>
            <a:ext cx="21435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r>
              <a:rPr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5167493" name="object 2"/>
          <p:cNvSpPr txBox="1">
            <a:spLocks noGrp="1"/>
          </p:cNvSpPr>
          <p:nvPr>
            <p:ph type="title"/>
          </p:nvPr>
        </p:nvSpPr>
        <p:spPr bwMode="auto">
          <a:xfrm flipH="0" flipV="0">
            <a:off x="95299" y="59877"/>
            <a:ext cx="3419839" cy="2308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25"/>
              <a:t>Neural</a:t>
            </a:r>
            <a:r>
              <a:rPr spc="-30"/>
              <a:t> Collaborative </a:t>
            </a:r>
            <a:r>
              <a:rPr spc="-10"/>
              <a:t>Filtering</a:t>
            </a:r>
            <a:r>
              <a:rPr spc="-30"/>
              <a:t> </a:t>
            </a:r>
            <a:r>
              <a:rPr spc="-10"/>
              <a:t>(NCF)</a:t>
            </a:r>
            <a:endParaRPr/>
          </a:p>
        </p:txBody>
      </p:sp>
      <p:pic>
        <p:nvPicPr>
          <p:cNvPr id="775429227" name="object 3" descr=""/>
          <p:cNvPicPr/>
          <p:nvPr/>
        </p:nvPicPr>
        <p:blipFill rotWithShape="1">
          <a:blip r:embed="rId3"/>
          <a:stretch/>
        </p:blipFill>
        <p:spPr bwMode="auto">
          <a:xfrm>
            <a:off x="281089" y="1224572"/>
            <a:ext cx="65265" cy="65265"/>
          </a:xfrm>
          <a:prstGeom prst="rect">
            <a:avLst/>
          </a:prstGeom>
        </p:spPr>
      </p:pic>
      <p:sp>
        <p:nvSpPr>
          <p:cNvPr id="911325372" name="object 4" descr=""/>
          <p:cNvSpPr txBox="1"/>
          <p:nvPr/>
        </p:nvSpPr>
        <p:spPr bwMode="auto">
          <a:xfrm flipH="0" flipV="0">
            <a:off x="377532" y="1097340"/>
            <a:ext cx="4019479" cy="109456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38100" marR="573405">
              <a:lnSpc>
                <a:spcPct val="125299"/>
              </a:lnSpc>
              <a:spcBef>
                <a:spcPts val="100"/>
              </a:spcBef>
              <a:defRPr/>
            </a:pPr>
            <a:r>
              <a:rPr sz="1100" spc="-25">
                <a:latin typeface="Tahoma"/>
                <a:cs typeface="Tahoma"/>
              </a:rPr>
              <a:t>User </a:t>
            </a:r>
            <a:r>
              <a:rPr sz="1100" spc="-35">
                <a:latin typeface="Tahoma"/>
                <a:cs typeface="Tahoma"/>
              </a:rPr>
              <a:t>and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55">
                <a:latin typeface="Tahoma"/>
                <a:cs typeface="Tahoma"/>
              </a:rPr>
              <a:t>Item</a:t>
            </a:r>
            <a:r>
              <a:rPr sz="1100" spc="-20">
                <a:latin typeface="Tahoma"/>
                <a:cs typeface="Tahoma"/>
              </a:rPr>
              <a:t> </a:t>
            </a:r>
            <a:r>
              <a:rPr sz="1100" spc="-55">
                <a:latin typeface="Tahoma"/>
                <a:cs typeface="Tahoma"/>
              </a:rPr>
              <a:t>embeddings</a:t>
            </a:r>
            <a:r>
              <a:rPr sz="1100" spc="-25">
                <a:latin typeface="Tahoma"/>
                <a:cs typeface="Tahoma"/>
              </a:rPr>
              <a:t> (dim=32) </a:t>
            </a:r>
            <a:endParaRPr sz="1100">
              <a:latin typeface="Tahoma"/>
              <a:cs typeface="Tahoma"/>
            </a:endParaRPr>
          </a:p>
          <a:p>
            <a:pPr marL="38099" marR="573404">
              <a:lnSpc>
                <a:spcPct val="125299"/>
              </a:lnSpc>
              <a:spcBef>
                <a:spcPts val="99"/>
              </a:spcBef>
              <a:defRPr/>
            </a:pPr>
            <a:r>
              <a:rPr sz="1100">
                <a:latin typeface="Tahoma"/>
                <a:cs typeface="Tahoma"/>
              </a:rPr>
              <a:t>GMF</a:t>
            </a:r>
            <a:r>
              <a:rPr sz="1100" spc="14">
                <a:latin typeface="Tahoma"/>
                <a:cs typeface="Tahoma"/>
              </a:rPr>
              <a:t> </a:t>
            </a:r>
            <a:r>
              <a:rPr sz="1100" spc="-19">
                <a:latin typeface="Tahoma"/>
                <a:cs typeface="Tahoma"/>
              </a:rPr>
              <a:t>path:</a:t>
            </a:r>
            <a:r>
              <a:rPr sz="1100" spc="129">
                <a:latin typeface="Tahoma"/>
                <a:cs typeface="Tahoma"/>
              </a:rPr>
              <a:t> </a:t>
            </a:r>
            <a:r>
              <a:rPr sz="1100" spc="-49">
                <a:latin typeface="Tahoma"/>
                <a:cs typeface="Tahoma"/>
              </a:rPr>
              <a:t>Element-</a:t>
            </a:r>
            <a:r>
              <a:rPr sz="1100" spc="-24">
                <a:latin typeface="Tahoma"/>
                <a:cs typeface="Tahoma"/>
              </a:rPr>
              <a:t>wise</a:t>
            </a:r>
            <a:r>
              <a:rPr sz="1100" spc="19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product</a:t>
            </a:r>
            <a:endParaRPr sz="1100">
              <a:latin typeface="Tahoma"/>
              <a:cs typeface="Tahoma"/>
            </a:endParaRPr>
          </a:p>
          <a:p>
            <a:pPr marL="38100" marR="265430">
              <a:lnSpc>
                <a:spcPct val="125299"/>
              </a:lnSpc>
              <a:defRPr/>
            </a:pPr>
            <a:r>
              <a:rPr sz="1100" spc="70">
                <a:latin typeface="Tahoma"/>
                <a:cs typeface="Tahoma"/>
              </a:rPr>
              <a:t>MLP</a:t>
            </a:r>
            <a:r>
              <a:rPr sz="1100" spc="-10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path:</a:t>
            </a:r>
            <a:r>
              <a:rPr sz="1100" spc="100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Concatenation</a:t>
            </a:r>
            <a:r>
              <a:rPr sz="1100" spc="-1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+</a:t>
            </a:r>
            <a:r>
              <a:rPr sz="1100" spc="-10">
                <a:latin typeface="Tahoma"/>
                <a:cs typeface="Tahoma"/>
              </a:rPr>
              <a:t> </a:t>
            </a:r>
            <a:r>
              <a:rPr sz="1100" spc="-40">
                <a:latin typeface="Tahoma"/>
                <a:cs typeface="Tahoma"/>
              </a:rPr>
              <a:t>hidden</a:t>
            </a:r>
            <a:r>
              <a:rPr sz="1100" spc="-10">
                <a:latin typeface="Tahoma"/>
                <a:cs typeface="Tahoma"/>
              </a:rPr>
              <a:t> </a:t>
            </a:r>
            <a:r>
              <a:rPr sz="1100" spc="-55">
                <a:latin typeface="Tahoma"/>
                <a:cs typeface="Tahoma"/>
              </a:rPr>
              <a:t>layers </a:t>
            </a:r>
            <a:endParaRPr sz="1100" spc="-54">
              <a:latin typeface="Tahoma"/>
              <a:cs typeface="Tahoma"/>
            </a:endParaRPr>
          </a:p>
          <a:p>
            <a:pPr marL="38099" marR="265429">
              <a:lnSpc>
                <a:spcPct val="125299"/>
              </a:lnSpc>
              <a:defRPr/>
            </a:pPr>
            <a:r>
              <a:rPr sz="1100">
                <a:latin typeface="Tahoma"/>
                <a:cs typeface="Tahoma"/>
              </a:rPr>
              <a:t>Final:</a:t>
            </a:r>
            <a:r>
              <a:rPr sz="1100" spc="45">
                <a:latin typeface="Tahoma"/>
                <a:cs typeface="Tahoma"/>
              </a:rPr>
              <a:t> </a:t>
            </a:r>
            <a:r>
              <a:rPr sz="1100" spc="-24">
                <a:latin typeface="Tahoma"/>
                <a:cs typeface="Tahoma"/>
              </a:rPr>
              <a:t>Sigmoid</a:t>
            </a:r>
            <a:r>
              <a:rPr sz="1100" spc="-54">
                <a:latin typeface="Tahoma"/>
                <a:cs typeface="Tahoma"/>
              </a:rPr>
              <a:t> </a:t>
            </a:r>
            <a:r>
              <a:rPr sz="1100" spc="-19">
                <a:latin typeface="Tahoma"/>
                <a:cs typeface="Tahoma"/>
              </a:rPr>
              <a:t>output</a:t>
            </a:r>
            <a:r>
              <a:rPr sz="1100" spc="-54">
                <a:latin typeface="Tahoma"/>
                <a:cs typeface="Tahoma"/>
              </a:rPr>
              <a:t> </a:t>
            </a:r>
            <a:r>
              <a:rPr sz="1100" spc="-19">
                <a:latin typeface="Tahoma"/>
                <a:cs typeface="Tahoma"/>
              </a:rPr>
              <a:t>for</a:t>
            </a:r>
            <a:r>
              <a:rPr sz="1100" spc="-49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prediction</a:t>
            </a:r>
            <a:endParaRPr sz="1100">
              <a:latin typeface="Tahoma"/>
              <a:cs typeface="Tahoma"/>
            </a:endParaRPr>
          </a:p>
          <a:p>
            <a:pPr marL="1111250">
              <a:lnSpc>
                <a:spcPct val="100000"/>
              </a:lnSpc>
              <a:spcBef>
                <a:spcPts val="335"/>
              </a:spcBef>
              <a:defRPr/>
            </a:pPr>
            <a:r>
              <a:rPr sz="1100" i="1" spc="-114">
                <a:latin typeface="Calibri"/>
                <a:cs typeface="Calibri"/>
              </a:rPr>
              <a:t>y</a:t>
            </a:r>
            <a:r>
              <a:rPr sz="1100" spc="-114">
                <a:latin typeface="Tahoma"/>
                <a:cs typeface="Tahoma"/>
              </a:rPr>
              <a:t>ˆ</a:t>
            </a:r>
            <a:r>
              <a:rPr sz="1200" i="1" spc="-172" baseline="-25000">
                <a:latin typeface="Arial"/>
                <a:cs typeface="Arial"/>
              </a:rPr>
              <a:t>ui</a:t>
            </a:r>
            <a:r>
              <a:rPr sz="1200" i="1" spc="375" baseline="-25000">
                <a:latin typeface="Arial"/>
                <a:cs typeface="Arial"/>
              </a:rPr>
              <a:t> </a:t>
            </a:r>
            <a:r>
              <a:rPr sz="1100">
                <a:latin typeface="Tahoma"/>
                <a:cs typeface="Tahoma"/>
              </a:rPr>
              <a:t>=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i="1">
                <a:latin typeface="Arial"/>
                <a:cs typeface="Arial"/>
              </a:rPr>
              <a:t>σ</a:t>
            </a:r>
            <a:r>
              <a:rPr sz="1100">
                <a:latin typeface="Tahoma"/>
                <a:cs typeface="Tahoma"/>
              </a:rPr>
              <a:t>(</a:t>
            </a:r>
            <a:r>
              <a:rPr sz="1100" i="1">
                <a:latin typeface="Calibri"/>
                <a:cs typeface="Calibri"/>
              </a:rPr>
              <a:t>h</a:t>
            </a:r>
            <a:r>
              <a:rPr sz="1200" i="1" baseline="30000">
                <a:latin typeface="Arial"/>
                <a:cs typeface="Arial"/>
              </a:rPr>
              <a:t>T</a:t>
            </a:r>
            <a:r>
              <a:rPr sz="1200" i="1" spc="-82" baseline="30000">
                <a:latin typeface="Arial"/>
                <a:cs typeface="Arial"/>
              </a:rPr>
              <a:t> </a:t>
            </a:r>
            <a:r>
              <a:rPr sz="1100">
                <a:latin typeface="Tahoma"/>
                <a:cs typeface="Tahoma"/>
              </a:rPr>
              <a:t>(</a:t>
            </a:r>
            <a:r>
              <a:rPr sz="1100" i="1">
                <a:latin typeface="Arial"/>
                <a:cs typeface="Arial"/>
              </a:rPr>
              <a:t>ϕ</a:t>
            </a:r>
            <a:r>
              <a:rPr sz="1200" i="1" baseline="-25000">
                <a:latin typeface="Arial"/>
                <a:cs typeface="Arial"/>
              </a:rPr>
              <a:t>GMF</a:t>
            </a:r>
            <a:r>
              <a:rPr sz="1200" i="1" spc="322" baseline="-25000">
                <a:latin typeface="Arial"/>
                <a:cs typeface="Arial"/>
              </a:rPr>
              <a:t> </a:t>
            </a:r>
            <a:r>
              <a:rPr sz="1100" spc="-35">
                <a:latin typeface="Lucida Sans Unicode"/>
                <a:cs typeface="Lucida Sans Unicode"/>
              </a:rPr>
              <a:t>⊕</a:t>
            </a:r>
            <a:r>
              <a:rPr sz="1100" spc="-85">
                <a:latin typeface="Lucida Sans Unicode"/>
                <a:cs typeface="Lucida Sans Unicode"/>
              </a:rPr>
              <a:t> </a:t>
            </a:r>
            <a:r>
              <a:rPr sz="1100" i="1">
                <a:latin typeface="Arial"/>
                <a:cs typeface="Arial"/>
              </a:rPr>
              <a:t>ϕ</a:t>
            </a:r>
            <a:r>
              <a:rPr sz="1200" i="1" baseline="-25000">
                <a:latin typeface="Arial"/>
                <a:cs typeface="Arial"/>
              </a:rPr>
              <a:t>MLP</a:t>
            </a:r>
            <a:r>
              <a:rPr sz="1200" i="1" spc="-142" baseline="-25000">
                <a:latin typeface="Arial"/>
                <a:cs typeface="Arial"/>
              </a:rPr>
              <a:t> </a:t>
            </a:r>
            <a:r>
              <a:rPr sz="1100" spc="-25">
                <a:latin typeface="Tahoma"/>
                <a:cs typeface="Tahoma"/>
              </a:rPr>
              <a:t>))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661953000" name="object 5" descr=""/>
          <p:cNvPicPr/>
          <p:nvPr/>
        </p:nvPicPr>
        <p:blipFill rotWithShape="1">
          <a:blip r:embed="rId4"/>
          <a:stretch/>
        </p:blipFill>
        <p:spPr bwMode="auto">
          <a:xfrm>
            <a:off x="281089" y="1434604"/>
            <a:ext cx="65265" cy="65265"/>
          </a:xfrm>
          <a:prstGeom prst="rect">
            <a:avLst/>
          </a:prstGeom>
        </p:spPr>
      </p:pic>
      <p:pic>
        <p:nvPicPr>
          <p:cNvPr id="212861337" name="object 6" descr=""/>
          <p:cNvPicPr/>
          <p:nvPr/>
        </p:nvPicPr>
        <p:blipFill rotWithShape="1">
          <a:blip r:embed="rId5"/>
          <a:stretch/>
        </p:blipFill>
        <p:spPr bwMode="auto">
          <a:xfrm>
            <a:off x="281089" y="1644637"/>
            <a:ext cx="65265" cy="65265"/>
          </a:xfrm>
          <a:prstGeom prst="rect">
            <a:avLst/>
          </a:prstGeom>
        </p:spPr>
      </p:pic>
      <p:pic>
        <p:nvPicPr>
          <p:cNvPr id="1179656772" name="object 7" descr=""/>
          <p:cNvPicPr/>
          <p:nvPr/>
        </p:nvPicPr>
        <p:blipFill rotWithShape="1">
          <a:blip r:embed="rId6"/>
          <a:stretch/>
        </p:blipFill>
        <p:spPr bwMode="auto">
          <a:xfrm>
            <a:off x="281089" y="1854669"/>
            <a:ext cx="65265" cy="65265"/>
          </a:xfrm>
          <a:prstGeom prst="rect">
            <a:avLst/>
          </a:prstGeom>
        </p:spPr>
      </p:pic>
      <p:grpSp>
        <p:nvGrpSpPr>
          <p:cNvPr id="821531834" name="object 8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9" name="object 9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0" name="object 10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40631741" name="object 15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592670334" name="object 16" descr="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4339499" y="3351783"/>
            <a:ext cx="21435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9230753" name="object 2" descr=""/>
          <p:cNvSpPr/>
          <p:nvPr/>
        </p:nvSpPr>
        <p:spPr bwMode="auto"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 fill="norm" stroke="1" extrusionOk="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18237843" name="object 3" descr=""/>
          <p:cNvSpPr txBox="1"/>
          <p:nvPr/>
        </p:nvSpPr>
        <p:spPr bwMode="auto">
          <a:xfrm flipH="0" flipV="0">
            <a:off x="95299" y="59877"/>
            <a:ext cx="1978705" cy="2308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400">
                <a:latin typeface="Tahoma"/>
                <a:cs typeface="Tahoma"/>
              </a:rPr>
              <a:t>Main</a:t>
            </a:r>
            <a:r>
              <a:rPr sz="1400" spc="30">
                <a:latin typeface="Tahoma"/>
                <a:cs typeface="Tahoma"/>
              </a:rPr>
              <a:t> </a:t>
            </a:r>
            <a:r>
              <a:rPr sz="1400" spc="-35">
                <a:latin typeface="Tahoma"/>
                <a:cs typeface="Tahoma"/>
              </a:rPr>
              <a:t>Results</a:t>
            </a:r>
            <a:endParaRPr sz="1400">
              <a:latin typeface="Tahoma"/>
              <a:cs typeface="Tahoma"/>
            </a:endParaRPr>
          </a:p>
        </p:txBody>
      </p:sp>
      <p:graphicFrame>
        <p:nvGraphicFramePr>
          <p:cNvPr id="1556723471" name="object 4" descr=""/>
          <p:cNvGraphicFramePr>
            <a:graphicFrameLocks xmlns:a="http://schemas.openxmlformats.org/drawingml/2006/main" noGrp="1"/>
          </p:cNvGraphicFramePr>
          <p:nvPr/>
        </p:nvGraphicFramePr>
        <p:xfrm rot="0">
          <a:off x="1032941" y="1131290"/>
          <a:ext cx="2618740" cy="905510"/>
        </p:xfrm>
        <a:graphic>
          <a:graphicData uri="http://schemas.openxmlformats.org/drawingml/2006/table">
            <a:tbl>
              <a:tblPr firstRow="1" firstCol="0" lastRow="0" lastCol="0" bandRow="1" bandCol="0">
                <a:tableStyleId>{2D5ABB26-0587-4C30-8999-92F81FD0307C}</a:tableStyleId>
              </a:tblPr>
              <a:tblGrid>
                <a:gridCol w="698500"/>
                <a:gridCol w="538480"/>
                <a:gridCol w="538480"/>
                <a:gridCol w="767079"/>
              </a:tblGrid>
              <a:tr h="225425">
                <a:tc>
                  <a:txBody>
                    <a:bodyPr/>
                    <a:p>
                      <a:pPr marL="75565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Model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000" b="1" spc="-20">
                          <a:latin typeface="Arial"/>
                          <a:cs typeface="Arial"/>
                        </a:rPr>
                        <a:t>P@10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000" b="1" spc="-20">
                          <a:latin typeface="Arial"/>
                          <a:cs typeface="Arial"/>
                        </a:rPr>
                        <a:t>R@10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95"/>
                        </a:spcBef>
                        <a:defRPr/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NDCG@10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24765" marB="0">
                    <a:lnT w="12700" algn="ctr">
                      <a:solidFill>
                        <a:srgbClr val="000000"/>
                      </a:solidFill>
                    </a:lnT>
                    <a:lnB w="9525" algn="ctr">
                      <a:solidFill>
                        <a:srgbClr val="000000"/>
                      </a:solidFill>
                    </a:lnB>
                  </a:tcPr>
                </a:tc>
              </a:tr>
              <a:tr h="193040">
                <a:tc>
                  <a:txBody>
                    <a:bodyPr/>
                    <a:p>
                      <a:pPr marL="75565">
                        <a:lnSpc>
                          <a:spcPct val="100000"/>
                        </a:lnSpc>
                        <a:spcBef>
                          <a:spcPts val="180"/>
                        </a:spcBef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Popularity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0.0023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0.0100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 algn="ctr">
                      <a:solidFill>
                        <a:srgbClr val="000000"/>
                      </a:solidFill>
                    </a:lnT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0.0050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22860" marB="0">
                    <a:lnT w="9525" algn="ctr">
                      <a:solidFill>
                        <a:srgbClr val="000000"/>
                      </a:solidFill>
                    </a:lnT>
                  </a:tcPr>
                </a:tc>
              </a:tr>
              <a:tr h="151765">
                <a:tc>
                  <a:txBody>
                    <a:bodyPr/>
                    <a:p>
                      <a:pPr marL="75565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Item-</a:t>
                      </a:r>
                      <a:r>
                        <a:rPr sz="1000" spc="-25">
                          <a:latin typeface="Tahoma"/>
                          <a:cs typeface="Tahoma"/>
                        </a:rPr>
                        <a:t>KNN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0.0006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0.0057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0.0020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150495">
                <a:tc>
                  <a:txBody>
                    <a:bodyPr/>
                    <a:p>
                      <a:pPr marL="75565">
                        <a:lnSpc>
                          <a:spcPts val="1050"/>
                        </a:lnSpc>
                        <a:defRPr/>
                      </a:pPr>
                      <a:r>
                        <a:rPr sz="1000" spc="40">
                          <a:latin typeface="Tahoma"/>
                          <a:cs typeface="Tahoma"/>
                        </a:rPr>
                        <a:t>MF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0.0017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0.0054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p>
                      <a:pPr algn="ctr">
                        <a:lnSpc>
                          <a:spcPts val="1050"/>
                        </a:lnSpc>
                        <a:defRPr/>
                      </a:pPr>
                      <a:r>
                        <a:rPr sz="1000" spc="-10">
                          <a:latin typeface="Tahoma"/>
                          <a:cs typeface="Tahoma"/>
                        </a:rPr>
                        <a:t>0.0021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/>
                </a:tc>
              </a:tr>
              <a:tr h="184785">
                <a:tc>
                  <a:txBody>
                    <a:bodyPr/>
                    <a:p>
                      <a:pPr marL="75565">
                        <a:lnSpc>
                          <a:spcPts val="1060"/>
                        </a:lnSpc>
                        <a:defRPr/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NeuMF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060"/>
                        </a:lnSpc>
                        <a:defRPr/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0.0023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060"/>
                        </a:lnSpc>
                        <a:defRPr/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0.0100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 algn="ctr">
                      <a:solidFill>
                        <a:srgbClr val="000000"/>
                      </a:solidFill>
                    </a:lnB>
                  </a:tcPr>
                </a:tc>
                <a:tc>
                  <a:txBody>
                    <a:bodyPr/>
                    <a:p>
                      <a:pPr algn="ctr">
                        <a:lnSpc>
                          <a:spcPts val="1060"/>
                        </a:lnSpc>
                        <a:defRPr/>
                      </a:pPr>
                      <a:r>
                        <a:rPr sz="1000" b="1" spc="-10">
                          <a:latin typeface="Arial"/>
                          <a:cs typeface="Arial"/>
                        </a:rPr>
                        <a:t>0.0059</a:t>
                      </a:r>
                      <a:endParaRPr sz="10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 algn="ctr">
                      <a:solidFill>
                        <a:srgbClr val="000000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30037309" name="object 5" descr=""/>
          <p:cNvSpPr txBox="1"/>
          <p:nvPr/>
        </p:nvSpPr>
        <p:spPr bwMode="auto">
          <a:xfrm flipH="0" flipV="0">
            <a:off x="125843" y="2222789"/>
            <a:ext cx="3303875" cy="1824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b="1">
                <a:latin typeface="Arial"/>
                <a:cs typeface="Arial"/>
              </a:rPr>
              <a:t>Winner:</a:t>
            </a:r>
            <a:r>
              <a:rPr sz="1100" b="1" spc="110">
                <a:latin typeface="Arial"/>
                <a:cs typeface="Arial"/>
              </a:rPr>
              <a:t> </a:t>
            </a:r>
            <a:r>
              <a:rPr sz="1100">
                <a:latin typeface="Tahoma"/>
                <a:cs typeface="Tahoma"/>
              </a:rPr>
              <a:t>NeuMF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with</a:t>
            </a:r>
            <a:r>
              <a:rPr sz="1100" spc="-2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NDCG@10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=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40">
                <a:latin typeface="Tahoma"/>
                <a:cs typeface="Tahoma"/>
              </a:rPr>
              <a:t>0.0059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554691238" name="object 6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61568813" name="object 13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493904555" name="object 14" descr="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4339499" y="3351783"/>
            <a:ext cx="21435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r>
              <a:rPr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60364498" name="object 2" descr=""/>
          <p:cNvSpPr/>
          <p:nvPr/>
        </p:nvSpPr>
        <p:spPr bwMode="auto"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 fill="norm" stroke="1" extrusionOk="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55037397" name="object 3" descr=""/>
          <p:cNvSpPr txBox="1"/>
          <p:nvPr/>
        </p:nvSpPr>
        <p:spPr bwMode="auto">
          <a:xfrm flipH="0" flipV="0">
            <a:off x="95299" y="59877"/>
            <a:ext cx="2264455" cy="2308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400">
                <a:latin typeface="Tahoma"/>
                <a:cs typeface="Tahoma"/>
              </a:rPr>
              <a:t>Model</a:t>
            </a:r>
            <a:r>
              <a:rPr sz="1400" spc="-30">
                <a:latin typeface="Tahoma"/>
                <a:cs typeface="Tahoma"/>
              </a:rPr>
              <a:t> </a:t>
            </a:r>
            <a:r>
              <a:rPr sz="1400" spc="-45">
                <a:latin typeface="Tahoma"/>
                <a:cs typeface="Tahoma"/>
              </a:rPr>
              <a:t>Comparison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679185124" name="object 4" descr=""/>
          <p:cNvPicPr/>
          <p:nvPr/>
        </p:nvPicPr>
        <p:blipFill rotWithShape="1">
          <a:blip r:embed="rId3"/>
          <a:stretch/>
        </p:blipFill>
        <p:spPr bwMode="auto">
          <a:xfrm>
            <a:off x="276445" y="1151197"/>
            <a:ext cx="4061049" cy="1090055"/>
          </a:xfrm>
          <a:prstGeom prst="rect">
            <a:avLst/>
          </a:prstGeom>
        </p:spPr>
      </p:pic>
      <p:grpSp>
        <p:nvGrpSpPr>
          <p:cNvPr id="598310277" name="object 5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6" name="object 6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7" name="object 7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995633670" name="object 12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643430721" name="object 13" descr=""/>
          <p:cNvSpPr txBox="1">
            <a:spLocks noGrp="1"/>
          </p:cNvSpPr>
          <p:nvPr>
            <p:ph type="sldNum" sz="quarter" idx="7"/>
          </p:nvPr>
        </p:nvSpPr>
        <p:spPr bwMode="auto">
          <a:xfrm flipH="0" flipV="0">
            <a:off x="4339499" y="3351783"/>
            <a:ext cx="379186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76934533" name="object 2" descr=""/>
          <p:cNvSpPr/>
          <p:nvPr/>
        </p:nvSpPr>
        <p:spPr bwMode="auto">
          <a:xfrm>
            <a:off x="0" y="-12"/>
            <a:ext cx="4608195" cy="350520"/>
          </a:xfrm>
          <a:custGeom>
            <a:avLst/>
            <a:gdLst/>
            <a:ahLst/>
            <a:cxnLst/>
            <a:rect l="l" t="t" r="r" b="b"/>
            <a:pathLst>
              <a:path w="4608195" h="350520" fill="norm" stroke="1" extrusionOk="0">
                <a:moveTo>
                  <a:pt x="4608004" y="0"/>
                </a:moveTo>
                <a:lnTo>
                  <a:pt x="0" y="0"/>
                </a:lnTo>
                <a:lnTo>
                  <a:pt x="0" y="350126"/>
                </a:lnTo>
                <a:lnTo>
                  <a:pt x="4608004" y="350126"/>
                </a:lnTo>
                <a:lnTo>
                  <a:pt x="4608004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006912812" name="object 3" descr=""/>
          <p:cNvSpPr txBox="1"/>
          <p:nvPr/>
        </p:nvSpPr>
        <p:spPr bwMode="auto">
          <a:xfrm flipH="0" flipV="0">
            <a:off x="95299" y="59877"/>
            <a:ext cx="2327955" cy="2308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400" spc="-25">
                <a:latin typeface="Tahoma"/>
                <a:cs typeface="Tahoma"/>
              </a:rPr>
              <a:t>Training</a:t>
            </a:r>
            <a:r>
              <a:rPr sz="1400" spc="-40">
                <a:latin typeface="Tahoma"/>
                <a:cs typeface="Tahoma"/>
              </a:rPr>
              <a:t> </a:t>
            </a:r>
            <a:r>
              <a:rPr sz="1400" spc="-30">
                <a:latin typeface="Tahoma"/>
                <a:cs typeface="Tahoma"/>
              </a:rPr>
              <a:t>Dynamics</a:t>
            </a:r>
            <a:endParaRPr sz="1400">
              <a:latin typeface="Tahoma"/>
              <a:cs typeface="Tahoma"/>
            </a:endParaRPr>
          </a:p>
        </p:txBody>
      </p:sp>
      <p:pic>
        <p:nvPicPr>
          <p:cNvPr id="533294938" name="object 4" descr=""/>
          <p:cNvPicPr/>
          <p:nvPr/>
        </p:nvPicPr>
        <p:blipFill rotWithShape="1">
          <a:blip r:embed="rId3"/>
          <a:stretch/>
        </p:blipFill>
        <p:spPr bwMode="auto">
          <a:xfrm>
            <a:off x="613667" y="848287"/>
            <a:ext cx="3398240" cy="1646570"/>
          </a:xfrm>
          <a:prstGeom prst="rect">
            <a:avLst/>
          </a:prstGeom>
        </p:spPr>
      </p:pic>
      <p:sp>
        <p:nvSpPr>
          <p:cNvPr id="2106393475" name="object 5" descr=""/>
          <p:cNvSpPr txBox="1"/>
          <p:nvPr/>
        </p:nvSpPr>
        <p:spPr bwMode="auto">
          <a:xfrm flipH="0" flipV="0">
            <a:off x="125843" y="2664597"/>
            <a:ext cx="4066340" cy="179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>
                <a:latin typeface="Tahoma"/>
                <a:cs typeface="Tahoma"/>
              </a:rPr>
              <a:t>NCF</a:t>
            </a:r>
            <a:r>
              <a:rPr sz="1100" spc="5">
                <a:latin typeface="Tahoma"/>
                <a:cs typeface="Tahoma"/>
              </a:rPr>
              <a:t> </a:t>
            </a:r>
            <a:r>
              <a:rPr sz="1100" spc="-55">
                <a:latin typeface="Tahoma"/>
                <a:cs typeface="Tahoma"/>
              </a:rPr>
              <a:t>converges</a:t>
            </a:r>
            <a:r>
              <a:rPr sz="1100" spc="10">
                <a:latin typeface="Tahoma"/>
                <a:cs typeface="Tahoma"/>
              </a:rPr>
              <a:t> </a:t>
            </a:r>
            <a:r>
              <a:rPr sz="1100" spc="-65">
                <a:latin typeface="Tahoma"/>
                <a:cs typeface="Tahoma"/>
              </a:rPr>
              <a:t>slower</a:t>
            </a:r>
            <a:r>
              <a:rPr sz="1100" spc="1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but</a:t>
            </a:r>
            <a:r>
              <a:rPr sz="1100" spc="5">
                <a:latin typeface="Tahoma"/>
                <a:cs typeface="Tahoma"/>
              </a:rPr>
              <a:t> </a:t>
            </a:r>
            <a:r>
              <a:rPr sz="1100" spc="-60">
                <a:latin typeface="Tahoma"/>
                <a:cs typeface="Tahoma"/>
              </a:rPr>
              <a:t>achieves</a:t>
            </a:r>
            <a:r>
              <a:rPr sz="1100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better</a:t>
            </a:r>
            <a:r>
              <a:rPr sz="1100" spc="10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generalization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1474976109" name="object 6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7" name="object 7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8" name="object 8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9" name="object 9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6833414" name="object 13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651633528" name="object 14" descr=""/>
          <p:cNvSpPr txBox="1">
            <a:spLocks noGrp="1"/>
          </p:cNvSpPr>
          <p:nvPr>
            <p:ph type="sldNum" sz="quarter" idx="7"/>
          </p:nvPr>
        </p:nvSpPr>
        <p:spPr bwMode="auto">
          <a:xfrm flipH="0" flipV="0">
            <a:off x="4339499" y="3351783"/>
            <a:ext cx="383722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</a:t>
            </a:r>
            <a:r>
              <a:rPr/>
              <a:t>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1892769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25"/>
              <a:t>Cold-</a:t>
            </a:r>
            <a:r>
              <a:rPr/>
              <a:t>Start</a:t>
            </a:r>
            <a:r>
              <a:rPr spc="-25"/>
              <a:t> Analysis</a:t>
            </a:r>
            <a:endParaRPr/>
          </a:p>
        </p:txBody>
      </p:sp>
      <p:pic>
        <p:nvPicPr>
          <p:cNvPr id="1487172267" name="object 3" descr=""/>
          <p:cNvPicPr/>
          <p:nvPr/>
        </p:nvPicPr>
        <p:blipFill rotWithShape="1">
          <a:blip r:embed="rId3"/>
          <a:stretch/>
        </p:blipFill>
        <p:spPr bwMode="auto">
          <a:xfrm>
            <a:off x="200839" y="1187395"/>
            <a:ext cx="2035177" cy="882328"/>
          </a:xfrm>
          <a:prstGeom prst="rect">
            <a:avLst/>
          </a:prstGeom>
        </p:spPr>
      </p:pic>
      <p:pic>
        <p:nvPicPr>
          <p:cNvPr id="1942391723" name="object 4" descr=""/>
          <p:cNvPicPr/>
          <p:nvPr/>
        </p:nvPicPr>
        <p:blipFill rotWithShape="1">
          <a:blip r:embed="rId4"/>
          <a:stretch/>
        </p:blipFill>
        <p:spPr bwMode="auto">
          <a:xfrm>
            <a:off x="2492730" y="1330102"/>
            <a:ext cx="65265" cy="65265"/>
          </a:xfrm>
          <a:prstGeom prst="rect">
            <a:avLst/>
          </a:prstGeom>
        </p:spPr>
      </p:pic>
      <p:sp>
        <p:nvSpPr>
          <p:cNvPr id="1503003909" name="object 5" descr=""/>
          <p:cNvSpPr txBox="1"/>
          <p:nvPr/>
        </p:nvSpPr>
        <p:spPr bwMode="auto">
          <a:xfrm flipH="0" flipV="0">
            <a:off x="2614573" y="1235503"/>
            <a:ext cx="2149830" cy="853397"/>
          </a:xfrm>
          <a:prstGeom prst="rect">
            <a:avLst/>
          </a:prstGeom>
        </p:spPr>
        <p:txBody>
          <a:bodyPr vert="horz" wrap="square" lIns="0" tIns="552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defRPr/>
            </a:pPr>
            <a:r>
              <a:rPr sz="1100" spc="-75">
                <a:latin typeface="Tahoma"/>
                <a:cs typeface="Tahoma"/>
              </a:rPr>
              <a:t>48.6%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cold users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25299"/>
              </a:lnSpc>
              <a:defRPr/>
            </a:pPr>
            <a:r>
              <a:rPr sz="1100" spc="-75">
                <a:latin typeface="Tahoma"/>
                <a:cs typeface="Tahoma"/>
              </a:rPr>
              <a:t>51.3%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cold items </a:t>
            </a:r>
            <a:endParaRPr sz="1100" spc="-39">
              <a:latin typeface="Tahoma"/>
              <a:cs typeface="Tahoma"/>
            </a:endParaRPr>
          </a:p>
          <a:p>
            <a:pPr marL="12699" marR="5079">
              <a:lnSpc>
                <a:spcPct val="125299"/>
              </a:lnSpc>
              <a:defRPr/>
            </a:pPr>
            <a:r>
              <a:rPr sz="1100" spc="-39">
                <a:latin typeface="Tahoma"/>
                <a:cs typeface="Tahoma"/>
              </a:rPr>
              <a:t>Challenge</a:t>
            </a:r>
            <a:r>
              <a:rPr sz="1100" spc="9">
                <a:latin typeface="Tahoma"/>
                <a:cs typeface="Tahoma"/>
              </a:rPr>
              <a:t> </a:t>
            </a:r>
            <a:r>
              <a:rPr sz="1100" spc="-19">
                <a:latin typeface="Tahoma"/>
                <a:cs typeface="Tahoma"/>
              </a:rPr>
              <a:t>for</a:t>
            </a:r>
            <a:r>
              <a:rPr sz="1100" spc="9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CF</a:t>
            </a:r>
            <a:r>
              <a:rPr sz="1100" spc="14">
                <a:latin typeface="Tahoma"/>
                <a:cs typeface="Tahoma"/>
              </a:rPr>
              <a:t> </a:t>
            </a:r>
            <a:r>
              <a:rPr sz="1100" spc="-45">
                <a:latin typeface="Tahoma"/>
                <a:cs typeface="Tahoma"/>
              </a:rPr>
              <a:t>methods </a:t>
            </a:r>
            <a:endParaRPr sz="1100" spc="-24">
              <a:latin typeface="Tahoma"/>
              <a:cs typeface="Tahoma"/>
            </a:endParaRPr>
          </a:p>
          <a:p>
            <a:pPr marL="12699" marR="5079">
              <a:lnSpc>
                <a:spcPct val="125299"/>
              </a:lnSpc>
              <a:defRPr/>
            </a:pPr>
            <a:r>
              <a:rPr sz="1100" spc="-24">
                <a:latin typeface="Tahoma"/>
                <a:cs typeface="Tahoma"/>
              </a:rPr>
              <a:t>Popularity </a:t>
            </a:r>
            <a:r>
              <a:rPr sz="1100" spc="-29">
                <a:latin typeface="Tahoma"/>
                <a:cs typeface="Tahoma"/>
              </a:rPr>
              <a:t>as</a:t>
            </a:r>
            <a:r>
              <a:rPr sz="1100" spc="-24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fallback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1898668314" name="object 6" descr=""/>
          <p:cNvPicPr/>
          <p:nvPr/>
        </p:nvPicPr>
        <p:blipFill rotWithShape="1">
          <a:blip r:embed="rId5"/>
          <a:stretch/>
        </p:blipFill>
        <p:spPr bwMode="auto">
          <a:xfrm>
            <a:off x="2492730" y="1540135"/>
            <a:ext cx="65265" cy="65265"/>
          </a:xfrm>
          <a:prstGeom prst="rect">
            <a:avLst/>
          </a:prstGeom>
        </p:spPr>
      </p:pic>
      <p:pic>
        <p:nvPicPr>
          <p:cNvPr id="590105531" name="object 7" descr=""/>
          <p:cNvPicPr/>
          <p:nvPr/>
        </p:nvPicPr>
        <p:blipFill rotWithShape="1">
          <a:blip r:embed="rId6"/>
          <a:stretch/>
        </p:blipFill>
        <p:spPr bwMode="auto">
          <a:xfrm>
            <a:off x="2492730" y="1750167"/>
            <a:ext cx="65265" cy="65265"/>
          </a:xfrm>
          <a:prstGeom prst="rect">
            <a:avLst/>
          </a:prstGeom>
        </p:spPr>
      </p:pic>
      <p:pic>
        <p:nvPicPr>
          <p:cNvPr id="1823565651" name="object 8" descr=""/>
          <p:cNvPicPr/>
          <p:nvPr/>
        </p:nvPicPr>
        <p:blipFill rotWithShape="1">
          <a:blip r:embed="rId7"/>
          <a:stretch/>
        </p:blipFill>
        <p:spPr bwMode="auto">
          <a:xfrm>
            <a:off x="2492730" y="1960200"/>
            <a:ext cx="65265" cy="65265"/>
          </a:xfrm>
          <a:prstGeom prst="rect">
            <a:avLst/>
          </a:prstGeom>
        </p:spPr>
      </p:pic>
      <p:grpSp>
        <p:nvGrpSpPr>
          <p:cNvPr id="1339913154" name="object 9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577532760" name="object 16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606208243" name="object 17" descr=""/>
          <p:cNvSpPr txBox="1">
            <a:spLocks noGrp="1"/>
          </p:cNvSpPr>
          <p:nvPr>
            <p:ph type="sldNum" sz="quarter" idx="7"/>
          </p:nvPr>
        </p:nvSpPr>
        <p:spPr bwMode="auto">
          <a:xfrm flipH="0" flipV="0">
            <a:off x="4339499" y="3351783"/>
            <a:ext cx="524329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962886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/>
              <a:t>Key</a:t>
            </a:r>
            <a:r>
              <a:rPr spc="-20"/>
              <a:t> </a:t>
            </a:r>
            <a:r>
              <a:rPr spc="-30"/>
              <a:t>Findings</a:t>
            </a:r>
            <a:endParaRPr/>
          </a:p>
        </p:txBody>
      </p:sp>
      <p:pic>
        <p:nvPicPr>
          <p:cNvPr id="1383354475" name="object 3" descr=""/>
          <p:cNvPicPr/>
          <p:nvPr/>
        </p:nvPicPr>
        <p:blipFill rotWithShape="1">
          <a:blip r:embed="rId3"/>
          <a:stretch/>
        </p:blipFill>
        <p:spPr bwMode="auto">
          <a:xfrm>
            <a:off x="227672" y="1307741"/>
            <a:ext cx="114214" cy="114214"/>
          </a:xfrm>
          <a:prstGeom prst="rect">
            <a:avLst/>
          </a:prstGeom>
        </p:spPr>
      </p:pic>
      <p:sp>
        <p:nvSpPr>
          <p:cNvPr id="481659676" name="object 4" descr=""/>
          <p:cNvSpPr txBox="1"/>
          <p:nvPr/>
        </p:nvSpPr>
        <p:spPr bwMode="auto">
          <a:xfrm>
            <a:off x="251929" y="1294808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600">
              <a:latin typeface="Tahoma"/>
              <a:cs typeface="Tahoma"/>
            </a:endParaRPr>
          </a:p>
        </p:txBody>
      </p:sp>
      <p:sp>
        <p:nvSpPr>
          <p:cNvPr id="1164869226" name="object 5" descr=""/>
          <p:cNvSpPr txBox="1"/>
          <p:nvPr/>
        </p:nvSpPr>
        <p:spPr bwMode="auto">
          <a:xfrm flipH="0" flipV="0">
            <a:off x="402931" y="1209836"/>
            <a:ext cx="3762397" cy="893407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/>
          <a:p>
            <a:pPr marL="12700" marR="5080">
              <a:lnSpc>
                <a:spcPct val="125299"/>
              </a:lnSpc>
              <a:spcBef>
                <a:spcPts val="100"/>
              </a:spcBef>
              <a:defRPr/>
            </a:pPr>
            <a:r>
              <a:rPr sz="1100" b="1">
                <a:latin typeface="Arial"/>
                <a:cs typeface="Arial"/>
              </a:rPr>
              <a:t>NCF</a:t>
            </a:r>
            <a:r>
              <a:rPr sz="1100" b="1" spc="35">
                <a:latin typeface="Arial"/>
                <a:cs typeface="Arial"/>
              </a:rPr>
              <a:t> </a:t>
            </a:r>
            <a:r>
              <a:rPr sz="1100" b="1" spc="-60">
                <a:latin typeface="Arial"/>
                <a:cs typeface="Arial"/>
              </a:rPr>
              <a:t>wins</a:t>
            </a:r>
            <a:r>
              <a:rPr sz="1100" b="1" spc="10">
                <a:latin typeface="Arial"/>
                <a:cs typeface="Arial"/>
              </a:rPr>
              <a:t> </a:t>
            </a:r>
            <a:r>
              <a:rPr sz="1100">
                <a:latin typeface="Tahoma"/>
                <a:cs typeface="Tahoma"/>
              </a:rPr>
              <a:t>with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highest</a:t>
            </a:r>
            <a:r>
              <a:rPr sz="1100" spc="-25">
                <a:latin typeface="Tahoma"/>
                <a:cs typeface="Tahoma"/>
              </a:rPr>
              <a:t> </a:t>
            </a:r>
            <a:r>
              <a:rPr sz="1100" spc="-35">
                <a:latin typeface="Tahoma"/>
                <a:cs typeface="Tahoma"/>
              </a:rPr>
              <a:t>NDCG@10 </a:t>
            </a:r>
            <a:r>
              <a:rPr sz="1100" spc="-10">
                <a:latin typeface="Tahoma"/>
                <a:cs typeface="Tahoma"/>
              </a:rPr>
              <a:t>(0.0059) </a:t>
            </a:r>
            <a:endParaRPr sz="1100" b="1" spc="-45">
              <a:latin typeface="Arial"/>
              <a:cs typeface="Arial"/>
            </a:endParaRPr>
          </a:p>
          <a:p>
            <a:pPr marL="12699" marR="5079">
              <a:lnSpc>
                <a:spcPct val="125299"/>
              </a:lnSpc>
              <a:spcBef>
                <a:spcPts val="99"/>
              </a:spcBef>
              <a:defRPr/>
            </a:pPr>
            <a:r>
              <a:rPr sz="1100" b="1" spc="-45">
                <a:latin typeface="Arial"/>
                <a:cs typeface="Arial"/>
              </a:rPr>
              <a:t>Sparsity</a:t>
            </a:r>
            <a:r>
              <a:rPr sz="1100" b="1" spc="-14">
                <a:latin typeface="Arial"/>
                <a:cs typeface="Arial"/>
              </a:rPr>
              <a:t> </a:t>
            </a:r>
            <a:r>
              <a:rPr sz="1100" b="1" spc="-29">
                <a:latin typeface="Arial"/>
                <a:cs typeface="Arial"/>
              </a:rPr>
              <a:t>hurts</a:t>
            </a:r>
            <a:r>
              <a:rPr sz="1100" b="1" spc="-9">
                <a:latin typeface="Arial"/>
                <a:cs typeface="Arial"/>
              </a:rPr>
              <a:t> </a:t>
            </a:r>
            <a:r>
              <a:rPr sz="1100" spc="-24">
                <a:latin typeface="Tahoma"/>
                <a:cs typeface="Tahoma"/>
              </a:rPr>
              <a:t>classical</a:t>
            </a:r>
            <a:r>
              <a:rPr sz="1100" spc="-49">
                <a:latin typeface="Tahoma"/>
                <a:cs typeface="Tahoma"/>
              </a:rPr>
              <a:t> </a:t>
            </a:r>
            <a:r>
              <a:rPr sz="1100" spc="-39">
                <a:latin typeface="Tahoma"/>
                <a:cs typeface="Tahoma"/>
              </a:rPr>
              <a:t>methods</a:t>
            </a:r>
            <a:r>
              <a:rPr sz="1100" spc="-49">
                <a:latin typeface="Tahoma"/>
                <a:cs typeface="Tahoma"/>
              </a:rPr>
              <a:t> </a:t>
            </a:r>
            <a:r>
              <a:rPr sz="1100" spc="-59">
                <a:latin typeface="Tahoma"/>
                <a:cs typeface="Tahoma"/>
              </a:rPr>
              <a:t>more</a:t>
            </a:r>
            <a:r>
              <a:rPr sz="1100" spc="-24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than</a:t>
            </a:r>
            <a:r>
              <a:rPr sz="1100" spc="-49">
                <a:latin typeface="Tahoma"/>
                <a:cs typeface="Tahoma"/>
              </a:rPr>
              <a:t> </a:t>
            </a:r>
            <a:r>
              <a:rPr sz="1100" spc="-34">
                <a:latin typeface="Tahoma"/>
                <a:cs typeface="Tahoma"/>
              </a:rPr>
              <a:t>neural </a:t>
            </a:r>
            <a:endParaRPr sz="1100" b="1" spc="-29">
              <a:latin typeface="Arial"/>
              <a:cs typeface="Arial"/>
            </a:endParaRPr>
          </a:p>
          <a:p>
            <a:pPr marL="12699" marR="5079">
              <a:lnSpc>
                <a:spcPct val="125299"/>
              </a:lnSpc>
              <a:spcBef>
                <a:spcPts val="99"/>
              </a:spcBef>
              <a:defRPr/>
            </a:pPr>
            <a:r>
              <a:rPr sz="1100" b="1" spc="-29">
                <a:latin typeface="Arial"/>
                <a:cs typeface="Arial"/>
              </a:rPr>
              <a:t>Popularity</a:t>
            </a:r>
            <a:r>
              <a:rPr sz="1100" b="1">
                <a:latin typeface="Arial"/>
                <a:cs typeface="Arial"/>
              </a:rPr>
              <a:t> </a:t>
            </a:r>
            <a:r>
              <a:rPr sz="1100" b="1" spc="-29">
                <a:latin typeface="Arial"/>
                <a:cs typeface="Arial"/>
              </a:rPr>
              <a:t>is</a:t>
            </a:r>
            <a:r>
              <a:rPr sz="1100" b="1" spc="19">
                <a:latin typeface="Arial"/>
                <a:cs typeface="Arial"/>
              </a:rPr>
              <a:t> </a:t>
            </a:r>
            <a:r>
              <a:rPr sz="1100" b="1" spc="-39">
                <a:latin typeface="Arial"/>
                <a:cs typeface="Arial"/>
              </a:rPr>
              <a:t>strong</a:t>
            </a:r>
            <a:r>
              <a:rPr sz="1100" b="1" spc="4">
                <a:latin typeface="Arial"/>
                <a:cs typeface="Arial"/>
              </a:rPr>
              <a:t> </a:t>
            </a:r>
            <a:r>
              <a:rPr sz="1100" spc="-49">
                <a:latin typeface="Tahoma"/>
                <a:cs typeface="Tahoma"/>
              </a:rPr>
              <a:t>due</a:t>
            </a:r>
            <a:r>
              <a:rPr sz="1100" spc="-34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to</a:t>
            </a:r>
            <a:r>
              <a:rPr sz="1100" spc="-49">
                <a:latin typeface="Tahoma"/>
                <a:cs typeface="Tahoma"/>
              </a:rPr>
              <a:t> </a:t>
            </a:r>
            <a:r>
              <a:rPr sz="1100" spc="-34">
                <a:latin typeface="Tahoma"/>
                <a:cs typeface="Tahoma"/>
              </a:rPr>
              <a:t>long-</a:t>
            </a:r>
            <a:r>
              <a:rPr sz="1100">
                <a:latin typeface="Tahoma"/>
                <a:cs typeface="Tahoma"/>
              </a:rPr>
              <a:t>tail</a:t>
            </a:r>
            <a:r>
              <a:rPr sz="1100" spc="-49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effect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  <a:defRPr/>
            </a:pPr>
            <a:r>
              <a:rPr sz="1100" b="1" spc="-45">
                <a:latin typeface="Arial"/>
                <a:cs typeface="Arial"/>
              </a:rPr>
              <a:t>Cold-</a:t>
            </a:r>
            <a:r>
              <a:rPr sz="1100" b="1">
                <a:latin typeface="Arial"/>
                <a:cs typeface="Arial"/>
              </a:rPr>
              <a:t>start</a:t>
            </a:r>
            <a:r>
              <a:rPr sz="1100" b="1" spc="-70">
                <a:latin typeface="Arial"/>
                <a:cs typeface="Arial"/>
              </a:rPr>
              <a:t> </a:t>
            </a:r>
            <a:r>
              <a:rPr sz="1100" spc="-10">
                <a:latin typeface="Tahoma"/>
                <a:cs typeface="Tahoma"/>
              </a:rPr>
              <a:t>affects</a:t>
            </a:r>
            <a:r>
              <a:rPr sz="1100" spc="240">
                <a:latin typeface="Tahoma"/>
                <a:cs typeface="Tahoma"/>
              </a:rPr>
              <a:t> </a:t>
            </a:r>
            <a:r>
              <a:rPr sz="1100" spc="-100">
                <a:latin typeface="Tahoma"/>
                <a:cs typeface="Tahoma"/>
              </a:rPr>
              <a:t>50%</a:t>
            </a:r>
            <a:r>
              <a:rPr sz="1100" spc="10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of</a:t>
            </a:r>
            <a:r>
              <a:rPr sz="1100" spc="-5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test</a:t>
            </a:r>
            <a:r>
              <a:rPr sz="1100" spc="-5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entities</a:t>
            </a:r>
            <a:endParaRPr sz="1100">
              <a:latin typeface="Tahoma"/>
              <a:cs typeface="Tahoma"/>
            </a:endParaRPr>
          </a:p>
        </p:txBody>
      </p:sp>
      <p:pic>
        <p:nvPicPr>
          <p:cNvPr id="2063576128" name="object 6" descr=""/>
          <p:cNvPicPr/>
          <p:nvPr/>
        </p:nvPicPr>
        <p:blipFill rotWithShape="1">
          <a:blip r:embed="rId4"/>
          <a:stretch/>
        </p:blipFill>
        <p:spPr bwMode="auto">
          <a:xfrm>
            <a:off x="227672" y="1517772"/>
            <a:ext cx="114214" cy="114214"/>
          </a:xfrm>
          <a:prstGeom prst="rect">
            <a:avLst/>
          </a:prstGeom>
        </p:spPr>
      </p:pic>
      <p:sp>
        <p:nvSpPr>
          <p:cNvPr id="1288005492" name="object 7" descr=""/>
          <p:cNvSpPr txBox="1"/>
          <p:nvPr/>
        </p:nvSpPr>
        <p:spPr bwMode="auto">
          <a:xfrm>
            <a:off x="251917" y="1504840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197415469" name="object 8" descr=""/>
          <p:cNvPicPr/>
          <p:nvPr/>
        </p:nvPicPr>
        <p:blipFill rotWithShape="1">
          <a:blip r:embed="rId5"/>
          <a:stretch/>
        </p:blipFill>
        <p:spPr bwMode="auto">
          <a:xfrm>
            <a:off x="227672" y="1727806"/>
            <a:ext cx="114214" cy="114214"/>
          </a:xfrm>
          <a:prstGeom prst="rect">
            <a:avLst/>
          </a:prstGeom>
        </p:spPr>
      </p:pic>
      <p:sp>
        <p:nvSpPr>
          <p:cNvPr id="10872484" name="object 9" descr=""/>
          <p:cNvSpPr txBox="1"/>
          <p:nvPr/>
        </p:nvSpPr>
        <p:spPr bwMode="auto">
          <a:xfrm>
            <a:off x="251917" y="1714873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600">
              <a:latin typeface="Tahoma"/>
              <a:cs typeface="Tahoma"/>
            </a:endParaRPr>
          </a:p>
        </p:txBody>
      </p:sp>
      <p:pic>
        <p:nvPicPr>
          <p:cNvPr id="19625402" name="object 10" descr=""/>
          <p:cNvPicPr/>
          <p:nvPr/>
        </p:nvPicPr>
        <p:blipFill rotWithShape="1">
          <a:blip r:embed="rId6"/>
          <a:stretch/>
        </p:blipFill>
        <p:spPr bwMode="auto">
          <a:xfrm>
            <a:off x="227672" y="1937839"/>
            <a:ext cx="114214" cy="114214"/>
          </a:xfrm>
          <a:prstGeom prst="rect">
            <a:avLst/>
          </a:prstGeom>
        </p:spPr>
      </p:pic>
      <p:sp>
        <p:nvSpPr>
          <p:cNvPr id="1213570138" name="object 11" descr=""/>
          <p:cNvSpPr txBox="1"/>
          <p:nvPr/>
        </p:nvSpPr>
        <p:spPr bwMode="auto">
          <a:xfrm>
            <a:off x="251917" y="1924906"/>
            <a:ext cx="6604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defRPr/>
            </a:pPr>
            <a:r>
              <a:rPr sz="600" spc="-5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600">
              <a:latin typeface="Tahoma"/>
              <a:cs typeface="Tahoma"/>
            </a:endParaRPr>
          </a:p>
        </p:txBody>
      </p:sp>
      <p:grpSp>
        <p:nvGrpSpPr>
          <p:cNvPr id="1784357504" name="object 12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3" name="object 13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5" name="object 15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70930098" name="object 19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422774399" name="object 20" descr=""/>
          <p:cNvSpPr txBox="1">
            <a:spLocks noGrp="1"/>
          </p:cNvSpPr>
          <p:nvPr>
            <p:ph type="sldNum" sz="quarter" idx="7"/>
          </p:nvPr>
        </p:nvSpPr>
        <p:spPr bwMode="auto">
          <a:xfrm flipH="0" flipV="0">
            <a:off x="4339499" y="3351783"/>
            <a:ext cx="320222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2915239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10"/>
              <a:t>Limitations</a:t>
            </a:r>
            <a:r>
              <a:rPr spc="-25"/>
              <a:t> </a:t>
            </a:r>
            <a:r>
              <a:rPr spc="120"/>
              <a:t>&amp;</a:t>
            </a:r>
            <a:r>
              <a:rPr spc="-25"/>
              <a:t> </a:t>
            </a:r>
            <a:r>
              <a:rPr spc="-20"/>
              <a:t>Future</a:t>
            </a:r>
            <a:r>
              <a:rPr spc="-25"/>
              <a:t> </a:t>
            </a:r>
            <a:r>
              <a:rPr spc="-20"/>
              <a:t>Work</a:t>
            </a:r>
            <a:endParaRPr/>
          </a:p>
        </p:txBody>
      </p:sp>
      <p:pic>
        <p:nvPicPr>
          <p:cNvPr id="1277289968" name="object 3" descr=""/>
          <p:cNvPicPr/>
          <p:nvPr/>
        </p:nvPicPr>
        <p:blipFill rotWithShape="1">
          <a:blip r:embed="rId3"/>
          <a:stretch/>
        </p:blipFill>
        <p:spPr bwMode="auto">
          <a:xfrm>
            <a:off x="281088" y="1040231"/>
            <a:ext cx="65265" cy="65265"/>
          </a:xfrm>
          <a:prstGeom prst="rect">
            <a:avLst/>
          </a:prstGeom>
        </p:spPr>
      </p:pic>
      <p:pic>
        <p:nvPicPr>
          <p:cNvPr id="174542917" name="object 4" descr=""/>
          <p:cNvPicPr/>
          <p:nvPr/>
        </p:nvPicPr>
        <p:blipFill rotWithShape="1">
          <a:blip r:embed="rId4"/>
          <a:stretch/>
        </p:blipFill>
        <p:spPr bwMode="auto">
          <a:xfrm>
            <a:off x="281088" y="1250263"/>
            <a:ext cx="65265" cy="65265"/>
          </a:xfrm>
          <a:prstGeom prst="rect">
            <a:avLst/>
          </a:prstGeom>
        </p:spPr>
      </p:pic>
      <p:pic>
        <p:nvPicPr>
          <p:cNvPr id="2134924881" name="object 5" descr=""/>
          <p:cNvPicPr/>
          <p:nvPr/>
        </p:nvPicPr>
        <p:blipFill rotWithShape="1">
          <a:blip r:embed="rId5"/>
          <a:stretch/>
        </p:blipFill>
        <p:spPr bwMode="auto">
          <a:xfrm>
            <a:off x="281088" y="1460296"/>
            <a:ext cx="65265" cy="65265"/>
          </a:xfrm>
          <a:prstGeom prst="rect">
            <a:avLst/>
          </a:prstGeom>
        </p:spPr>
      </p:pic>
      <p:pic>
        <p:nvPicPr>
          <p:cNvPr id="2043542100" name="object 6" descr=""/>
          <p:cNvPicPr/>
          <p:nvPr/>
        </p:nvPicPr>
        <p:blipFill rotWithShape="1">
          <a:blip r:embed="rId6"/>
          <a:stretch/>
        </p:blipFill>
        <p:spPr bwMode="auto">
          <a:xfrm>
            <a:off x="281088" y="2060358"/>
            <a:ext cx="65265" cy="65265"/>
          </a:xfrm>
          <a:prstGeom prst="rect">
            <a:avLst/>
          </a:prstGeom>
        </p:spPr>
      </p:pic>
      <p:pic>
        <p:nvPicPr>
          <p:cNvPr id="22734017" name="object 7" descr=""/>
          <p:cNvPicPr/>
          <p:nvPr/>
        </p:nvPicPr>
        <p:blipFill rotWithShape="1">
          <a:blip r:embed="rId7"/>
          <a:stretch/>
        </p:blipFill>
        <p:spPr bwMode="auto">
          <a:xfrm>
            <a:off x="281088" y="2270391"/>
            <a:ext cx="65265" cy="65265"/>
          </a:xfrm>
          <a:prstGeom prst="rect">
            <a:avLst/>
          </a:prstGeom>
        </p:spPr>
      </p:pic>
      <p:pic>
        <p:nvPicPr>
          <p:cNvPr id="438607277" name="object 8" descr=""/>
          <p:cNvPicPr/>
          <p:nvPr/>
        </p:nvPicPr>
        <p:blipFill rotWithShape="1">
          <a:blip r:embed="rId8"/>
          <a:stretch/>
        </p:blipFill>
        <p:spPr bwMode="auto">
          <a:xfrm>
            <a:off x="281088" y="2480423"/>
            <a:ext cx="65265" cy="65265"/>
          </a:xfrm>
          <a:prstGeom prst="rect">
            <a:avLst/>
          </a:prstGeom>
        </p:spPr>
      </p:pic>
      <p:sp>
        <p:nvSpPr>
          <p:cNvPr id="1719877276" name="object 9" descr=""/>
          <p:cNvSpPr txBox="1"/>
          <p:nvPr/>
        </p:nvSpPr>
        <p:spPr bwMode="auto">
          <a:xfrm flipH="0" flipV="0">
            <a:off x="125843" y="768245"/>
            <a:ext cx="3768423" cy="1872171"/>
          </a:xfrm>
          <a:prstGeom prst="rect">
            <a:avLst/>
          </a:prstGeom>
        </p:spPr>
        <p:txBody>
          <a:bodyPr vert="horz" wrap="square" lIns="0" tIns="5524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  <a:defRPr/>
            </a:pPr>
            <a:r>
              <a:rPr sz="1100" b="1" spc="-10">
                <a:latin typeface="Arial"/>
                <a:cs typeface="Arial"/>
              </a:rPr>
              <a:t>Limitations:</a:t>
            </a:r>
            <a:endParaRPr sz="1100">
              <a:latin typeface="Arial"/>
              <a:cs typeface="Arial"/>
            </a:endParaRPr>
          </a:p>
          <a:p>
            <a:pPr marL="289560" marR="5080">
              <a:lnSpc>
                <a:spcPct val="125299"/>
              </a:lnSpc>
              <a:defRPr/>
            </a:pPr>
            <a:r>
              <a:rPr sz="1100">
                <a:latin typeface="Tahoma"/>
                <a:cs typeface="Tahoma"/>
              </a:rPr>
              <a:t>Small</a:t>
            </a:r>
            <a:r>
              <a:rPr sz="1100" spc="-35">
                <a:latin typeface="Tahoma"/>
                <a:cs typeface="Tahoma"/>
              </a:rPr>
              <a:t> dataset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after</a:t>
            </a:r>
            <a:r>
              <a:rPr sz="1100" spc="-30">
                <a:latin typeface="Tahoma"/>
                <a:cs typeface="Tahoma"/>
              </a:rPr>
              <a:t> </a:t>
            </a:r>
            <a:r>
              <a:rPr sz="1100" spc="-20">
                <a:latin typeface="Tahoma"/>
                <a:cs typeface="Tahoma"/>
              </a:rPr>
              <a:t>filtering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45">
                <a:latin typeface="Tahoma"/>
                <a:cs typeface="Tahoma"/>
              </a:rPr>
              <a:t>(2,695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interactions) </a:t>
            </a:r>
            <a:endParaRPr sz="1100">
              <a:latin typeface="Tahoma"/>
              <a:cs typeface="Tahoma"/>
            </a:endParaRPr>
          </a:p>
          <a:p>
            <a:pPr marL="289559" marR="5079">
              <a:lnSpc>
                <a:spcPct val="125299"/>
              </a:lnSpc>
              <a:defRPr/>
            </a:pPr>
            <a:r>
              <a:rPr sz="1100">
                <a:latin typeface="Tahoma"/>
                <a:cs typeface="Tahoma"/>
              </a:rPr>
              <a:t>No</a:t>
            </a:r>
            <a:r>
              <a:rPr sz="1100" spc="-39">
                <a:latin typeface="Tahoma"/>
                <a:cs typeface="Tahoma"/>
              </a:rPr>
              <a:t> </a:t>
            </a:r>
            <a:r>
              <a:rPr sz="1100" spc="-34">
                <a:latin typeface="Tahoma"/>
                <a:cs typeface="Tahoma"/>
              </a:rPr>
              <a:t>hybrid</a:t>
            </a:r>
            <a:r>
              <a:rPr sz="1100" spc="-29">
                <a:latin typeface="Tahoma"/>
                <a:cs typeface="Tahoma"/>
              </a:rPr>
              <a:t> </a:t>
            </a:r>
            <a:r>
              <a:rPr sz="1100" spc="-34">
                <a:latin typeface="Tahoma"/>
                <a:cs typeface="Tahoma"/>
              </a:rPr>
              <a:t>model </a:t>
            </a:r>
            <a:r>
              <a:rPr sz="1100" spc="-49">
                <a:latin typeface="Tahoma"/>
                <a:cs typeface="Tahoma"/>
              </a:rPr>
              <a:t>due</a:t>
            </a:r>
            <a:r>
              <a:rPr sz="1100" spc="-29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to</a:t>
            </a:r>
            <a:r>
              <a:rPr sz="1100" spc="-29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limited</a:t>
            </a:r>
            <a:r>
              <a:rPr sz="1100" spc="-34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metadata </a:t>
            </a:r>
            <a:endParaRPr sz="1100" spc="-19">
              <a:latin typeface="Tahoma"/>
              <a:cs typeface="Tahoma"/>
            </a:endParaRPr>
          </a:p>
          <a:p>
            <a:pPr marL="289559" marR="5079">
              <a:lnSpc>
                <a:spcPct val="125299"/>
              </a:lnSpc>
              <a:defRPr/>
            </a:pPr>
            <a:r>
              <a:rPr sz="1100" spc="-19">
                <a:latin typeface="Tahoma"/>
                <a:cs typeface="Tahoma"/>
              </a:rPr>
              <a:t>Offline</a:t>
            </a:r>
            <a:r>
              <a:rPr sz="1100" spc="-29">
                <a:latin typeface="Tahoma"/>
                <a:cs typeface="Tahoma"/>
              </a:rPr>
              <a:t> evaluation </a:t>
            </a:r>
            <a:r>
              <a:rPr sz="1100" spc="-19">
                <a:latin typeface="Tahoma"/>
                <a:cs typeface="Tahoma"/>
              </a:rPr>
              <a:t>only</a:t>
            </a:r>
            <a:endParaRPr sz="11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420"/>
              </a:spcBef>
              <a:defRPr/>
            </a:pP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defRPr/>
            </a:pPr>
            <a:r>
              <a:rPr sz="1100" b="1" spc="-10">
                <a:latin typeface="Arial"/>
                <a:cs typeface="Arial"/>
              </a:rPr>
              <a:t>Future</a:t>
            </a:r>
            <a:r>
              <a:rPr sz="1100" b="1" spc="-40">
                <a:latin typeface="Arial"/>
                <a:cs typeface="Arial"/>
              </a:rPr>
              <a:t> </a:t>
            </a:r>
            <a:r>
              <a:rPr sz="1100" b="1" spc="-10">
                <a:latin typeface="Arial"/>
                <a:cs typeface="Arial"/>
              </a:rPr>
              <a:t>Work:</a:t>
            </a:r>
            <a:endParaRPr sz="1100">
              <a:latin typeface="Arial"/>
              <a:cs typeface="Arial"/>
            </a:endParaRPr>
          </a:p>
          <a:p>
            <a:pPr marL="289560" marR="389255">
              <a:lnSpc>
                <a:spcPct val="125299"/>
              </a:lnSpc>
              <a:defRPr/>
            </a:pPr>
            <a:r>
              <a:rPr sz="1100" spc="-50">
                <a:latin typeface="Tahoma"/>
                <a:cs typeface="Tahoma"/>
              </a:rPr>
              <a:t>Incorporate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item</a:t>
            </a:r>
            <a:r>
              <a:rPr sz="1100" spc="-35">
                <a:latin typeface="Tahoma"/>
                <a:cs typeface="Tahoma"/>
              </a:rPr>
              <a:t> </a:t>
            </a:r>
            <a:r>
              <a:rPr sz="1100" spc="-45">
                <a:latin typeface="Tahoma"/>
                <a:cs typeface="Tahoma"/>
              </a:rPr>
              <a:t>features</a:t>
            </a:r>
            <a:r>
              <a:rPr sz="1100" spc="-40">
                <a:latin typeface="Tahoma"/>
                <a:cs typeface="Tahoma"/>
              </a:rPr>
              <a:t> </a:t>
            </a:r>
            <a:r>
              <a:rPr sz="1100" spc="-10">
                <a:latin typeface="Tahoma"/>
                <a:cs typeface="Tahoma"/>
              </a:rPr>
              <a:t>(LightFM) </a:t>
            </a:r>
            <a:endParaRPr sz="1100" spc="-29">
              <a:latin typeface="Tahoma"/>
              <a:cs typeface="Tahoma"/>
            </a:endParaRPr>
          </a:p>
          <a:p>
            <a:pPr marL="289559" marR="389254">
              <a:lnSpc>
                <a:spcPct val="125299"/>
              </a:lnSpc>
              <a:defRPr/>
            </a:pPr>
            <a:r>
              <a:rPr sz="1100" spc="-29">
                <a:latin typeface="Tahoma"/>
                <a:cs typeface="Tahoma"/>
              </a:rPr>
              <a:t>Sequential</a:t>
            </a:r>
            <a:r>
              <a:rPr sz="1100" spc="-19">
                <a:latin typeface="Tahoma"/>
                <a:cs typeface="Tahoma"/>
              </a:rPr>
              <a:t> </a:t>
            </a:r>
            <a:r>
              <a:rPr sz="1100" spc="-49">
                <a:latin typeface="Tahoma"/>
                <a:cs typeface="Tahoma"/>
              </a:rPr>
              <a:t>models</a:t>
            </a:r>
            <a:r>
              <a:rPr sz="1100" spc="-19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(SASRec,</a:t>
            </a:r>
            <a:r>
              <a:rPr sz="1100" spc="-14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BERT4Rec) </a:t>
            </a:r>
            <a:endParaRPr sz="1100" spc="-9">
              <a:latin typeface="Tahoma"/>
              <a:cs typeface="Tahoma"/>
            </a:endParaRPr>
          </a:p>
          <a:p>
            <a:pPr marL="289559" marR="389254">
              <a:lnSpc>
                <a:spcPct val="125299"/>
              </a:lnSpc>
              <a:defRPr/>
            </a:pPr>
            <a:r>
              <a:rPr sz="1100" spc="-9">
                <a:latin typeface="Tahoma"/>
                <a:cs typeface="Tahoma"/>
              </a:rPr>
              <a:t>Online</a:t>
            </a:r>
            <a:r>
              <a:rPr sz="1100" spc="-24">
                <a:latin typeface="Tahoma"/>
                <a:cs typeface="Tahoma"/>
              </a:rPr>
              <a:t> </a:t>
            </a:r>
            <a:r>
              <a:rPr sz="1100" spc="84">
                <a:latin typeface="Tahoma"/>
                <a:cs typeface="Tahoma"/>
              </a:rPr>
              <a:t>A/B</a:t>
            </a:r>
            <a:r>
              <a:rPr sz="1100" spc="-24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testing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749990139" name="object 10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1" name="object 11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19629341" name="object 17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371578405" name="object 18" descr=""/>
          <p:cNvSpPr txBox="1">
            <a:spLocks noGrp="1"/>
          </p:cNvSpPr>
          <p:nvPr>
            <p:ph type="sldNum" sz="quarter" idx="7"/>
          </p:nvPr>
        </p:nvSpPr>
        <p:spPr bwMode="auto">
          <a:xfrm flipH="0" flipV="0">
            <a:off x="4339499" y="3351783"/>
            <a:ext cx="329294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7853458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35"/>
              <a:t>Conclusion</a:t>
            </a:r>
            <a:endParaRPr/>
          </a:p>
        </p:txBody>
      </p:sp>
      <p:sp>
        <p:nvSpPr>
          <p:cNvPr id="1313450490" name="object 3" descr=""/>
          <p:cNvSpPr/>
          <p:nvPr/>
        </p:nvSpPr>
        <p:spPr bwMode="auto">
          <a:xfrm>
            <a:off x="87743" y="1128153"/>
            <a:ext cx="4432935" cy="198755"/>
          </a:xfrm>
          <a:custGeom>
            <a:avLst/>
            <a:gdLst/>
            <a:ahLst/>
            <a:cxnLst/>
            <a:rect l="l" t="t" r="r" b="b"/>
            <a:pathLst>
              <a:path w="4432935" h="198755" fill="norm" stroke="1" extrusionOk="0">
                <a:moveTo>
                  <a:pt x="43817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4432566" y="198367"/>
                </a:lnTo>
                <a:lnTo>
                  <a:pt x="4432566" y="50800"/>
                </a:lnTo>
                <a:lnTo>
                  <a:pt x="4428558" y="31075"/>
                </a:lnTo>
                <a:lnTo>
                  <a:pt x="4417643" y="14922"/>
                </a:lnTo>
                <a:lnTo>
                  <a:pt x="4401490" y="4008"/>
                </a:lnTo>
                <a:lnTo>
                  <a:pt x="4381765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95238845" name="object 4" descr=""/>
          <p:cNvSpPr txBox="1"/>
          <p:nvPr/>
        </p:nvSpPr>
        <p:spPr bwMode="auto">
          <a:xfrm flipH="0" flipV="0">
            <a:off x="138543" y="1156600"/>
            <a:ext cx="796997" cy="1457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4"/>
              </a:lnSpc>
              <a:defRPr/>
            </a:pPr>
            <a:r>
              <a:rPr sz="1200" spc="-80">
                <a:solidFill>
                  <a:srgbClr val="FFFFFF"/>
                </a:solidFill>
                <a:latin typeface="Tahoma"/>
                <a:cs typeface="Tahoma"/>
              </a:rPr>
              <a:t>Summary</a:t>
            </a:r>
            <a:endParaRPr sz="1200">
              <a:latin typeface="Tahoma"/>
              <a:cs typeface="Tahoma"/>
            </a:endParaRPr>
          </a:p>
        </p:txBody>
      </p:sp>
      <p:grpSp>
        <p:nvGrpSpPr>
          <p:cNvPr id="35400065" name="object 5" descr=""/>
          <p:cNvGrpSpPr/>
          <p:nvPr/>
        </p:nvGrpSpPr>
        <p:grpSpPr bwMode="auto">
          <a:xfrm>
            <a:off x="87742" y="1313865"/>
            <a:ext cx="4432934" cy="589107"/>
            <a:chOff x="0" y="0"/>
            <a:chExt cx="4432934" cy="589107"/>
          </a:xfrm>
        </p:grpSpPr>
        <p:pic>
          <p:nvPicPr>
            <p:cNvPr id="6" name="object 6" descr="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0"/>
              <a:ext cx="4432566" cy="50609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 bwMode="auto">
            <a:xfrm>
              <a:off x="0" y="44277"/>
              <a:ext cx="4432935" cy="544830"/>
            </a:xfrm>
            <a:custGeom>
              <a:avLst/>
              <a:gdLst/>
              <a:ahLst/>
              <a:cxnLst/>
              <a:rect l="l" t="t" r="r" b="b"/>
              <a:pathLst>
                <a:path w="4432935" h="544830" fill="norm" stroke="1" extrusionOk="0">
                  <a:moveTo>
                    <a:pt x="4432566" y="0"/>
                  </a:moveTo>
                  <a:lnTo>
                    <a:pt x="0" y="0"/>
                  </a:lnTo>
                  <a:lnTo>
                    <a:pt x="0" y="493935"/>
                  </a:lnTo>
                  <a:lnTo>
                    <a:pt x="4008" y="513660"/>
                  </a:lnTo>
                  <a:lnTo>
                    <a:pt x="14922" y="529813"/>
                  </a:lnTo>
                  <a:lnTo>
                    <a:pt x="31075" y="540727"/>
                  </a:lnTo>
                  <a:lnTo>
                    <a:pt x="50800" y="544736"/>
                  </a:lnTo>
                  <a:lnTo>
                    <a:pt x="4381765" y="544736"/>
                  </a:lnTo>
                  <a:lnTo>
                    <a:pt x="4401490" y="540727"/>
                  </a:lnTo>
                  <a:lnTo>
                    <a:pt x="4417643" y="529813"/>
                  </a:lnTo>
                  <a:lnTo>
                    <a:pt x="4428558" y="513660"/>
                  </a:lnTo>
                  <a:lnTo>
                    <a:pt x="4432566" y="493935"/>
                  </a:lnTo>
                  <a:lnTo>
                    <a:pt x="4432566" y="0"/>
                  </a:lnTo>
                  <a:close/>
                </a:path>
              </a:pathLst>
            </a:custGeom>
            <a:solidFill>
              <a:srgbClr val="E9E9F2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1314676988" name="object 10" descr=""/>
          <p:cNvSpPr txBox="1"/>
          <p:nvPr/>
        </p:nvSpPr>
        <p:spPr bwMode="auto">
          <a:xfrm flipH="0" flipV="0">
            <a:off x="125843" y="2154362"/>
            <a:ext cx="3825947" cy="18249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defRPr/>
            </a:pPr>
            <a:r>
              <a:rPr sz="1100" b="1" spc="-30">
                <a:latin typeface="Arial"/>
                <a:cs typeface="Arial"/>
              </a:rPr>
              <a:t>Code</a:t>
            </a:r>
            <a:r>
              <a:rPr sz="1100" b="1" spc="50">
                <a:latin typeface="Arial"/>
                <a:cs typeface="Arial"/>
              </a:rPr>
              <a:t> </a:t>
            </a:r>
            <a:r>
              <a:rPr sz="1100" b="1" spc="100">
                <a:latin typeface="Arial"/>
                <a:cs typeface="Arial"/>
              </a:rPr>
              <a:t>&amp;</a:t>
            </a:r>
            <a:r>
              <a:rPr sz="1100" b="1" spc="60">
                <a:latin typeface="Arial"/>
                <a:cs typeface="Arial"/>
              </a:rPr>
              <a:t> </a:t>
            </a:r>
            <a:r>
              <a:rPr sz="1100" b="1">
                <a:latin typeface="Arial"/>
                <a:cs typeface="Arial"/>
              </a:rPr>
              <a:t>Data:</a:t>
            </a:r>
            <a:r>
              <a:rPr sz="1100" b="1" spc="130">
                <a:latin typeface="Arial"/>
                <a:cs typeface="Arial"/>
              </a:rPr>
              <a:t> </a:t>
            </a:r>
            <a:r>
              <a:rPr sz="1100" spc="-20">
                <a:latin typeface="Tahoma"/>
                <a:cs typeface="Tahoma"/>
              </a:rPr>
              <a:t>Available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in</a:t>
            </a:r>
            <a:r>
              <a:rPr sz="1100" spc="-10">
                <a:latin typeface="Tahoma"/>
                <a:cs typeface="Tahoma"/>
              </a:rPr>
              <a:t> the</a:t>
            </a:r>
            <a:r>
              <a:rPr sz="1100" spc="-15">
                <a:latin typeface="Tahoma"/>
                <a:cs typeface="Tahoma"/>
              </a:rPr>
              <a:t> </a:t>
            </a:r>
            <a:r>
              <a:rPr sz="1100" spc="-45">
                <a:latin typeface="Tahoma"/>
                <a:cs typeface="Tahoma"/>
              </a:rPr>
              <a:t>accompanying</a:t>
            </a:r>
            <a:r>
              <a:rPr sz="1100" spc="-20">
                <a:latin typeface="Tahoma"/>
                <a:cs typeface="Tahoma"/>
              </a:rPr>
              <a:t> </a:t>
            </a:r>
            <a:r>
              <a:rPr sz="1100" spc="-30">
                <a:latin typeface="Tahoma"/>
                <a:cs typeface="Tahoma"/>
              </a:rPr>
              <a:t>repository</a:t>
            </a:r>
            <a:endParaRPr sz="1100">
              <a:latin typeface="Tahoma"/>
              <a:cs typeface="Tahoma"/>
            </a:endParaRPr>
          </a:p>
        </p:txBody>
      </p:sp>
      <p:grpSp>
        <p:nvGrpSpPr>
          <p:cNvPr id="684937111" name="object 11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2" name="object 12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3" name="object 13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4" name="object 14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2079547856" name="object 18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999576167" name="object 19" descr=""/>
          <p:cNvSpPr txBox="1">
            <a:spLocks noGrp="1"/>
          </p:cNvSpPr>
          <p:nvPr>
            <p:ph type="sldNum" sz="quarter" idx="7"/>
          </p:nvPr>
        </p:nvSpPr>
        <p:spPr bwMode="auto">
          <a:xfrm flipH="0" flipV="0">
            <a:off x="4339499" y="3351783"/>
            <a:ext cx="315686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  <p:sp>
        <p:nvSpPr>
          <p:cNvPr id="1629549718" name="object 9" descr=""/>
          <p:cNvSpPr txBox="1"/>
          <p:nvPr/>
        </p:nvSpPr>
        <p:spPr bwMode="auto">
          <a:xfrm flipH="0" flipV="0">
            <a:off x="138543" y="1185080"/>
            <a:ext cx="4575247" cy="674469"/>
          </a:xfrm>
          <a:prstGeom prst="rect">
            <a:avLst/>
          </a:prstGeom>
        </p:spPr>
        <p:txBody>
          <a:bodyPr vert="horz" wrap="square" lIns="0" tIns="158113" rIns="0" bIns="0" rtlCol="0">
            <a:spAutoFit/>
          </a:bodyPr>
          <a:lstStyle/>
          <a:p>
            <a:pPr marR="220978">
              <a:lnSpc>
                <a:spcPct val="102600"/>
              </a:lnSpc>
              <a:spcBef>
                <a:spcPts val="1244"/>
              </a:spcBef>
              <a:defRPr/>
            </a:pPr>
            <a:r>
              <a:rPr sz="1100" spc="-19">
                <a:latin typeface="Tahoma"/>
                <a:cs typeface="Tahoma"/>
              </a:rPr>
              <a:t>Neural</a:t>
            </a:r>
            <a:r>
              <a:rPr sz="1100" spc="-4">
                <a:latin typeface="Tahoma"/>
                <a:cs typeface="Tahoma"/>
              </a:rPr>
              <a:t> </a:t>
            </a:r>
            <a:r>
              <a:rPr sz="1100" spc="-29">
                <a:latin typeface="Tahoma"/>
                <a:cs typeface="Tahoma"/>
              </a:rPr>
              <a:t>Collaborative</a:t>
            </a:r>
            <a:r>
              <a:rPr sz="1100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Filtering </a:t>
            </a:r>
            <a:r>
              <a:rPr sz="1100">
                <a:latin typeface="Tahoma"/>
                <a:cs typeface="Tahoma"/>
              </a:rPr>
              <a:t>(NCF) </a:t>
            </a:r>
            <a:r>
              <a:rPr sz="1100" spc="-39">
                <a:latin typeface="Tahoma"/>
                <a:cs typeface="Tahoma"/>
              </a:rPr>
              <a:t>outperforms</a:t>
            </a:r>
            <a:r>
              <a:rPr sz="1100" spc="-4">
                <a:latin typeface="Tahoma"/>
                <a:cs typeface="Tahoma"/>
              </a:rPr>
              <a:t> </a:t>
            </a:r>
            <a:r>
              <a:rPr sz="1100" spc="-24">
                <a:latin typeface="Tahoma"/>
                <a:cs typeface="Tahoma"/>
              </a:rPr>
              <a:t>classical</a:t>
            </a:r>
            <a:r>
              <a:rPr sz="1100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Matrix </a:t>
            </a:r>
            <a:r>
              <a:rPr sz="1100" spc="-24">
                <a:latin typeface="Tahoma"/>
                <a:cs typeface="Tahoma"/>
              </a:rPr>
              <a:t>Factorization</a:t>
            </a:r>
            <a:r>
              <a:rPr sz="1100" spc="-9">
                <a:latin typeface="Tahoma"/>
                <a:cs typeface="Tahoma"/>
              </a:rPr>
              <a:t> </a:t>
            </a:r>
            <a:r>
              <a:rPr sz="1100">
                <a:latin typeface="Tahoma"/>
                <a:cs typeface="Tahoma"/>
              </a:rPr>
              <a:t>in</a:t>
            </a:r>
            <a:r>
              <a:rPr sz="1100" spc="-4">
                <a:latin typeface="Tahoma"/>
                <a:cs typeface="Tahoma"/>
              </a:rPr>
              <a:t> </a:t>
            </a:r>
            <a:r>
              <a:rPr sz="1100" spc="-24">
                <a:latin typeface="Tahoma"/>
                <a:cs typeface="Tahoma"/>
              </a:rPr>
              <a:t>highly</a:t>
            </a:r>
            <a:r>
              <a:rPr sz="1100" spc="-4">
                <a:latin typeface="Tahoma"/>
                <a:cs typeface="Tahoma"/>
              </a:rPr>
              <a:t> </a:t>
            </a:r>
            <a:r>
              <a:rPr sz="1100" spc="-64">
                <a:latin typeface="Tahoma"/>
                <a:cs typeface="Tahoma"/>
              </a:rPr>
              <a:t>sparse</a:t>
            </a:r>
            <a:r>
              <a:rPr sz="1100" spc="-4">
                <a:latin typeface="Tahoma"/>
                <a:cs typeface="Tahoma"/>
              </a:rPr>
              <a:t> </a:t>
            </a:r>
            <a:r>
              <a:rPr sz="1100" spc="-54">
                <a:latin typeface="Tahoma"/>
                <a:cs typeface="Tahoma"/>
              </a:rPr>
              <a:t>e-</a:t>
            </a:r>
            <a:r>
              <a:rPr sz="1100" spc="-64">
                <a:latin typeface="Tahoma"/>
                <a:cs typeface="Tahoma"/>
              </a:rPr>
              <a:t>commerce</a:t>
            </a:r>
            <a:r>
              <a:rPr sz="1100" spc="-9">
                <a:latin typeface="Tahoma"/>
                <a:cs typeface="Tahoma"/>
              </a:rPr>
              <a:t> </a:t>
            </a:r>
            <a:r>
              <a:rPr sz="1100" spc="-19">
                <a:latin typeface="Tahoma"/>
                <a:cs typeface="Tahoma"/>
              </a:rPr>
              <a:t>data,</a:t>
            </a:r>
            <a:r>
              <a:rPr sz="1100" spc="-4">
                <a:latin typeface="Tahoma"/>
                <a:cs typeface="Tahoma"/>
              </a:rPr>
              <a:t> </a:t>
            </a:r>
            <a:r>
              <a:rPr sz="1100" spc="-45">
                <a:latin typeface="Tahoma"/>
                <a:cs typeface="Tahoma"/>
              </a:rPr>
              <a:t>demonstrating</a:t>
            </a:r>
            <a:r>
              <a:rPr sz="1100" spc="-4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the</a:t>
            </a:r>
            <a:r>
              <a:rPr sz="1100" spc="-4">
                <a:latin typeface="Tahoma"/>
                <a:cs typeface="Tahoma"/>
              </a:rPr>
              <a:t> </a:t>
            </a:r>
            <a:r>
              <a:rPr sz="1100" spc="-24">
                <a:latin typeface="Tahoma"/>
                <a:cs typeface="Tahoma"/>
              </a:rPr>
              <a:t>value </a:t>
            </a:r>
            <a:r>
              <a:rPr sz="1100">
                <a:latin typeface="Tahoma"/>
                <a:cs typeface="Tahoma"/>
              </a:rPr>
              <a:t>of</a:t>
            </a:r>
            <a:r>
              <a:rPr sz="1100" spc="-19">
                <a:latin typeface="Tahoma"/>
                <a:cs typeface="Tahoma"/>
              </a:rPr>
              <a:t> </a:t>
            </a:r>
            <a:r>
              <a:rPr sz="1100" spc="-59">
                <a:latin typeface="Tahoma"/>
                <a:cs typeface="Tahoma"/>
              </a:rPr>
              <a:t>non-</a:t>
            </a:r>
            <a:r>
              <a:rPr sz="1100" spc="-34">
                <a:latin typeface="Tahoma"/>
                <a:cs typeface="Tahoma"/>
              </a:rPr>
              <a:t>linear</a:t>
            </a:r>
            <a:r>
              <a:rPr sz="1100" spc="-19">
                <a:latin typeface="Tahoma"/>
                <a:cs typeface="Tahoma"/>
              </a:rPr>
              <a:t> </a:t>
            </a:r>
            <a:r>
              <a:rPr sz="1100" spc="-24">
                <a:latin typeface="Tahoma"/>
                <a:cs typeface="Tahoma"/>
              </a:rPr>
              <a:t>interaction</a:t>
            </a:r>
            <a:r>
              <a:rPr sz="1100" spc="-19">
                <a:latin typeface="Tahoma"/>
                <a:cs typeface="Tahoma"/>
              </a:rPr>
              <a:t> </a:t>
            </a:r>
            <a:r>
              <a:rPr sz="1100" spc="-9">
                <a:latin typeface="Tahoma"/>
                <a:cs typeface="Tahoma"/>
              </a:rPr>
              <a:t>modeling.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2403925" name="object 2"/>
          <p:cNvSpPr txBox="1">
            <a:spLocks noGrp="1"/>
          </p:cNvSpPr>
          <p:nvPr>
            <p:ph type="title"/>
          </p:nvPr>
        </p:nvSpPr>
        <p:spPr bwMode="auto"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pc="-65"/>
              <a:t>References</a:t>
            </a:r>
            <a:endParaRPr/>
          </a:p>
        </p:txBody>
      </p:sp>
      <p:pic>
        <p:nvPicPr>
          <p:cNvPr id="294297964" name="object 3" descr=""/>
          <p:cNvPicPr/>
          <p:nvPr/>
        </p:nvPicPr>
        <p:blipFill rotWithShape="1">
          <a:blip r:embed="rId3"/>
          <a:stretch/>
        </p:blipFill>
        <p:spPr bwMode="auto">
          <a:xfrm>
            <a:off x="281089" y="1259929"/>
            <a:ext cx="65265" cy="65265"/>
          </a:xfrm>
          <a:prstGeom prst="rect">
            <a:avLst/>
          </a:prstGeom>
        </p:spPr>
      </p:pic>
      <p:sp>
        <p:nvSpPr>
          <p:cNvPr id="1599041137" name="object 4" descr=""/>
          <p:cNvSpPr txBox="1">
            <a:spLocks noGrp="1"/>
          </p:cNvSpPr>
          <p:nvPr>
            <p:ph type="body" idx="1"/>
          </p:nvPr>
        </p:nvSpPr>
        <p:spPr bwMode="auto"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  <a:defRPr/>
            </a:pPr>
            <a:r>
              <a:rPr/>
              <a:t>He</a:t>
            </a:r>
            <a:r>
              <a:rPr spc="10"/>
              <a:t> </a:t>
            </a:r>
            <a:r>
              <a:rPr/>
              <a:t>et</a:t>
            </a:r>
            <a:r>
              <a:rPr spc="10"/>
              <a:t> </a:t>
            </a:r>
            <a:r>
              <a:rPr/>
              <a:t>al.</a:t>
            </a:r>
            <a:r>
              <a:rPr spc="105"/>
              <a:t> </a:t>
            </a:r>
            <a:r>
              <a:rPr/>
              <a:t>(2017).</a:t>
            </a:r>
            <a:r>
              <a:rPr spc="100"/>
              <a:t> </a:t>
            </a:r>
            <a:r>
              <a:rPr spc="-10"/>
              <a:t>Neural</a:t>
            </a:r>
            <a:r>
              <a:rPr spc="15"/>
              <a:t> </a:t>
            </a:r>
            <a:r>
              <a:rPr spc="-20"/>
              <a:t>Collaborative</a:t>
            </a:r>
            <a:r>
              <a:rPr spc="10"/>
              <a:t> </a:t>
            </a:r>
            <a:r>
              <a:rPr/>
              <a:t>Filtering.</a:t>
            </a:r>
            <a:r>
              <a:rPr spc="100"/>
              <a:t> </a:t>
            </a:r>
            <a:r>
              <a:rPr u="sng" spc="-20">
                <a:hlinkClick r:id="rId4" tooltip=""/>
              </a:rPr>
              <a:t>WWW.</a:t>
            </a:r>
            <a:endParaRPr/>
          </a:p>
          <a:p>
            <a:pPr marL="12700" marR="5080">
              <a:lnSpc>
                <a:spcPct val="138400"/>
              </a:lnSpc>
              <a:defRPr/>
            </a:pPr>
            <a:r>
              <a:rPr spc="-10"/>
              <a:t>Koren</a:t>
            </a:r>
            <a:r>
              <a:rPr spc="15"/>
              <a:t> </a:t>
            </a:r>
            <a:r>
              <a:rPr/>
              <a:t>et</a:t>
            </a:r>
            <a:r>
              <a:rPr spc="15"/>
              <a:t> </a:t>
            </a:r>
            <a:r>
              <a:rPr/>
              <a:t>al.</a:t>
            </a:r>
            <a:r>
              <a:rPr spc="100"/>
              <a:t> </a:t>
            </a:r>
            <a:r>
              <a:rPr/>
              <a:t>(2009).</a:t>
            </a:r>
            <a:r>
              <a:rPr spc="110"/>
              <a:t> </a:t>
            </a:r>
            <a:r>
              <a:rPr/>
              <a:t>Matrix</a:t>
            </a:r>
            <a:r>
              <a:rPr spc="15"/>
              <a:t> </a:t>
            </a:r>
            <a:r>
              <a:rPr spc="-10"/>
              <a:t>Factorization</a:t>
            </a:r>
            <a:r>
              <a:rPr spc="15"/>
              <a:t> </a:t>
            </a:r>
            <a:r>
              <a:rPr spc="-35"/>
              <a:t>Techniques.</a:t>
            </a:r>
            <a:r>
              <a:rPr spc="110"/>
              <a:t> </a:t>
            </a:r>
            <a:r>
              <a:rPr spc="-10"/>
              <a:t>IEEE</a:t>
            </a:r>
            <a:r>
              <a:rPr spc="15"/>
              <a:t> </a:t>
            </a:r>
            <a:r>
              <a:rPr spc="-10"/>
              <a:t>Computer. </a:t>
            </a:r>
            <a:r>
              <a:rPr spc="-35"/>
              <a:t>Rendle</a:t>
            </a:r>
            <a:r>
              <a:rPr spc="5"/>
              <a:t> </a:t>
            </a:r>
            <a:r>
              <a:rPr/>
              <a:t>et</a:t>
            </a:r>
            <a:r>
              <a:rPr spc="10"/>
              <a:t> </a:t>
            </a:r>
            <a:r>
              <a:rPr/>
              <a:t>al.</a:t>
            </a:r>
            <a:r>
              <a:rPr spc="95"/>
              <a:t> </a:t>
            </a:r>
            <a:r>
              <a:rPr/>
              <a:t>(2009).</a:t>
            </a:r>
            <a:r>
              <a:rPr spc="100"/>
              <a:t> </a:t>
            </a:r>
            <a:r>
              <a:rPr/>
              <a:t>BPR:</a:t>
            </a:r>
            <a:r>
              <a:rPr spc="10"/>
              <a:t> </a:t>
            </a:r>
            <a:r>
              <a:rPr spc="-40"/>
              <a:t>Bayesian</a:t>
            </a:r>
            <a:r>
              <a:rPr spc="5"/>
              <a:t> </a:t>
            </a:r>
            <a:r>
              <a:rPr spc="-40"/>
              <a:t>Personalized</a:t>
            </a:r>
            <a:r>
              <a:rPr spc="10"/>
              <a:t> </a:t>
            </a:r>
            <a:r>
              <a:rPr spc="-10"/>
              <a:t>Ranking.</a:t>
            </a:r>
            <a:r>
              <a:rPr spc="100"/>
              <a:t> </a:t>
            </a:r>
            <a:r>
              <a:rPr spc="-20"/>
              <a:t>UAI.</a:t>
            </a:r>
            <a:endParaRPr/>
          </a:p>
          <a:p>
            <a:pPr marL="12700" marR="49530">
              <a:lnSpc>
                <a:spcPct val="138400"/>
              </a:lnSpc>
              <a:defRPr/>
            </a:pPr>
            <a:r>
              <a:rPr/>
              <a:t>Hu</a:t>
            </a:r>
            <a:r>
              <a:rPr spc="30"/>
              <a:t> </a:t>
            </a:r>
            <a:r>
              <a:rPr/>
              <a:t>et</a:t>
            </a:r>
            <a:r>
              <a:rPr spc="35"/>
              <a:t> </a:t>
            </a:r>
            <a:r>
              <a:rPr/>
              <a:t>al.</a:t>
            </a:r>
            <a:r>
              <a:rPr spc="130"/>
              <a:t> </a:t>
            </a:r>
            <a:r>
              <a:rPr/>
              <a:t>(2008).</a:t>
            </a:r>
            <a:r>
              <a:rPr spc="130"/>
              <a:t> </a:t>
            </a:r>
            <a:r>
              <a:rPr spc="-20"/>
              <a:t>Collaborative</a:t>
            </a:r>
            <a:r>
              <a:rPr spc="30"/>
              <a:t> </a:t>
            </a:r>
            <a:r>
              <a:rPr/>
              <a:t>Filtering</a:t>
            </a:r>
            <a:r>
              <a:rPr spc="35"/>
              <a:t> </a:t>
            </a:r>
            <a:r>
              <a:rPr/>
              <a:t>for</a:t>
            </a:r>
            <a:r>
              <a:rPr spc="30"/>
              <a:t> </a:t>
            </a:r>
            <a:r>
              <a:rPr/>
              <a:t>Implicit</a:t>
            </a:r>
            <a:r>
              <a:rPr spc="35"/>
              <a:t> </a:t>
            </a:r>
            <a:r>
              <a:rPr spc="-35"/>
              <a:t>Feedback.</a:t>
            </a:r>
            <a:r>
              <a:rPr spc="125"/>
              <a:t> </a:t>
            </a:r>
            <a:r>
              <a:rPr spc="-10"/>
              <a:t>ICDM. </a:t>
            </a:r>
            <a:r>
              <a:rPr spc="-40"/>
              <a:t>Sarwar</a:t>
            </a:r>
            <a:r>
              <a:rPr spc="20"/>
              <a:t> </a:t>
            </a:r>
            <a:r>
              <a:rPr/>
              <a:t>et</a:t>
            </a:r>
            <a:r>
              <a:rPr spc="20"/>
              <a:t> </a:t>
            </a:r>
            <a:r>
              <a:rPr/>
              <a:t>al.</a:t>
            </a:r>
            <a:r>
              <a:rPr spc="114"/>
              <a:t> </a:t>
            </a:r>
            <a:r>
              <a:rPr/>
              <a:t>(2001).</a:t>
            </a:r>
            <a:r>
              <a:rPr spc="114"/>
              <a:t> </a:t>
            </a:r>
            <a:r>
              <a:rPr spc="-35"/>
              <a:t>Item-</a:t>
            </a:r>
            <a:r>
              <a:rPr spc="-20"/>
              <a:t>based</a:t>
            </a:r>
            <a:r>
              <a:rPr spc="20"/>
              <a:t> </a:t>
            </a:r>
            <a:r>
              <a:rPr spc="-20"/>
              <a:t>Collaborative</a:t>
            </a:r>
            <a:r>
              <a:rPr spc="25"/>
              <a:t> </a:t>
            </a:r>
            <a:r>
              <a:rPr/>
              <a:t>Filtering.</a:t>
            </a:r>
            <a:r>
              <a:rPr spc="114"/>
              <a:t> </a:t>
            </a:r>
            <a:r>
              <a:rPr u="sng" spc="-20">
                <a:hlinkClick r:id="rId4" tooltip=""/>
              </a:rPr>
              <a:t>WWW.</a:t>
            </a:r>
            <a:endParaRPr/>
          </a:p>
        </p:txBody>
      </p:sp>
      <p:pic>
        <p:nvPicPr>
          <p:cNvPr id="232562915" name="object 5" descr=""/>
          <p:cNvPicPr/>
          <p:nvPr/>
        </p:nvPicPr>
        <p:blipFill rotWithShape="1">
          <a:blip r:embed="rId5"/>
          <a:stretch/>
        </p:blipFill>
        <p:spPr bwMode="auto">
          <a:xfrm>
            <a:off x="281089" y="1449717"/>
            <a:ext cx="65265" cy="65265"/>
          </a:xfrm>
          <a:prstGeom prst="rect">
            <a:avLst/>
          </a:prstGeom>
        </p:spPr>
      </p:pic>
      <p:pic>
        <p:nvPicPr>
          <p:cNvPr id="1526483218" name="object 6" descr=""/>
          <p:cNvPicPr/>
          <p:nvPr/>
        </p:nvPicPr>
        <p:blipFill rotWithShape="1">
          <a:blip r:embed="rId6"/>
          <a:stretch/>
        </p:blipFill>
        <p:spPr bwMode="auto">
          <a:xfrm>
            <a:off x="281089" y="1639506"/>
            <a:ext cx="65265" cy="65265"/>
          </a:xfrm>
          <a:prstGeom prst="rect">
            <a:avLst/>
          </a:prstGeom>
        </p:spPr>
      </p:pic>
      <p:pic>
        <p:nvPicPr>
          <p:cNvPr id="211774663" name="object 7" descr=""/>
          <p:cNvPicPr/>
          <p:nvPr/>
        </p:nvPicPr>
        <p:blipFill rotWithShape="1">
          <a:blip r:embed="rId7"/>
          <a:stretch/>
        </p:blipFill>
        <p:spPr bwMode="auto">
          <a:xfrm>
            <a:off x="281089" y="1829295"/>
            <a:ext cx="65265" cy="65265"/>
          </a:xfrm>
          <a:prstGeom prst="rect">
            <a:avLst/>
          </a:prstGeom>
        </p:spPr>
      </p:pic>
      <p:pic>
        <p:nvPicPr>
          <p:cNvPr id="884408903" name="object 8" descr=""/>
          <p:cNvPicPr/>
          <p:nvPr/>
        </p:nvPicPr>
        <p:blipFill rotWithShape="1">
          <a:blip r:embed="rId8"/>
          <a:stretch/>
        </p:blipFill>
        <p:spPr bwMode="auto">
          <a:xfrm>
            <a:off x="281089" y="2019084"/>
            <a:ext cx="65265" cy="65265"/>
          </a:xfrm>
          <a:prstGeom prst="rect">
            <a:avLst/>
          </a:prstGeom>
        </p:spPr>
      </p:pic>
      <p:grpSp>
        <p:nvGrpSpPr>
          <p:cNvPr id="897980892" name="object 9" descr=""/>
          <p:cNvGrpSpPr/>
          <p:nvPr/>
        </p:nvGrpSpPr>
        <p:grpSpPr bwMode="auto">
          <a:xfrm>
            <a:off x="0" y="3346348"/>
            <a:ext cx="4608195" cy="109855"/>
            <a:chOff x="0" y="3346348"/>
            <a:chExt cx="4608195" cy="109855"/>
          </a:xfrm>
        </p:grpSpPr>
        <p:sp>
          <p:nvSpPr>
            <p:cNvPr id="10" name="object 10" descr=""/>
            <p:cNvSpPr/>
            <p:nvPr/>
          </p:nvSpPr>
          <p:spPr bwMode="auto">
            <a:xfrm>
              <a:off x="0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5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1C1E8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1" name="object 11" descr=""/>
            <p:cNvSpPr/>
            <p:nvPr/>
          </p:nvSpPr>
          <p:spPr bwMode="auto">
            <a:xfrm>
              <a:off x="1535976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CCCCEB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  <p:sp>
          <p:nvSpPr>
            <p:cNvPr id="12" name="object 12" descr=""/>
            <p:cNvSpPr/>
            <p:nvPr/>
          </p:nvSpPr>
          <p:spPr bwMode="auto">
            <a:xfrm>
              <a:off x="3071952" y="3346348"/>
              <a:ext cx="1536065" cy="109855"/>
            </a:xfrm>
            <a:custGeom>
              <a:avLst/>
              <a:gdLst/>
              <a:ahLst/>
              <a:cxnLst/>
              <a:rect l="l" t="t" r="r" b="b"/>
              <a:pathLst>
                <a:path w="1536064" h="109854" fill="norm" stroke="1" extrusionOk="0">
                  <a:moveTo>
                    <a:pt x="1535976" y="0"/>
                  </a:moveTo>
                  <a:lnTo>
                    <a:pt x="0" y="0"/>
                  </a:lnTo>
                  <a:lnTo>
                    <a:pt x="0" y="109651"/>
                  </a:lnTo>
                  <a:lnTo>
                    <a:pt x="1535976" y="109651"/>
                  </a:lnTo>
                  <a:lnTo>
                    <a:pt x="1535976" y="0"/>
                  </a:lnTo>
                  <a:close/>
                </a:path>
              </a:pathLst>
            </a:custGeom>
            <a:solidFill>
              <a:srgbClr val="D6D6EF"/>
            </a:solidFill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936144119" name="object 16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412092667" name="object 17" descr=""/>
          <p:cNvSpPr txBox="1">
            <a:spLocks noGrp="1"/>
          </p:cNvSpPr>
          <p:nvPr>
            <p:ph type="sldNum" sz="quarter" idx="7"/>
          </p:nvPr>
        </p:nvSpPr>
        <p:spPr bwMode="auto">
          <a:xfrm flipH="0" flipV="0">
            <a:off x="4339499" y="3351783"/>
            <a:ext cx="279041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53985650" name="object 2"/>
          <p:cNvSpPr txBox="1">
            <a:spLocks noGrp="1"/>
          </p:cNvSpPr>
          <p:nvPr>
            <p:ph type="ctrTitle"/>
          </p:nvPr>
        </p:nvSpPr>
        <p:spPr bwMode="auto">
          <a:xfrm flipH="0" flipV="0">
            <a:off x="1562479" y="997112"/>
            <a:ext cx="2456213" cy="389614"/>
          </a:xfrm>
          <a:prstGeom prst="rect">
            <a:avLst/>
          </a:prstGeom>
        </p:spPr>
        <p:txBody>
          <a:bodyPr vert="horz" wrap="square" lIns="0" tIns="1587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defRPr/>
            </a:pPr>
            <a:r>
              <a:rPr sz="2450" spc="-70"/>
              <a:t>Thank</a:t>
            </a:r>
            <a:r>
              <a:rPr sz="2450" spc="-110"/>
              <a:t> </a:t>
            </a:r>
            <a:r>
              <a:rPr sz="2450" spc="-95"/>
              <a:t>You!</a:t>
            </a:r>
            <a:endParaRPr sz="2450"/>
          </a:p>
        </p:txBody>
      </p:sp>
      <p:sp>
        <p:nvSpPr>
          <p:cNvPr id="1776340741" name="object 7" descr=""/>
          <p:cNvSpPr txBox="1">
            <a:spLocks noGrp="1"/>
          </p:cNvSpPr>
          <p:nvPr>
            <p:ph type="ftr" sz="quarter" idx="5"/>
          </p:nvPr>
        </p:nvSpPr>
        <p:spPr bwMode="auto"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r>
              <a:rPr spc="-10"/>
              <a:t>February</a:t>
            </a:r>
            <a:r>
              <a:rPr spc="25"/>
              <a:t> </a:t>
            </a:r>
            <a:r>
              <a:rPr spc="-20"/>
              <a:t>2026</a:t>
            </a:r>
            <a:endParaRPr/>
          </a:p>
        </p:txBody>
      </p:sp>
      <p:sp>
        <p:nvSpPr>
          <p:cNvPr id="1595193012" name="object 8" descr=""/>
          <p:cNvSpPr txBox="1">
            <a:spLocks noGrp="1"/>
          </p:cNvSpPr>
          <p:nvPr>
            <p:ph type="sldNum" sz="quarter" idx="7"/>
          </p:nvPr>
        </p:nvSpPr>
        <p:spPr bwMode="auto">
          <a:xfrm flipH="0" flipV="0">
            <a:off x="4339499" y="3351783"/>
            <a:ext cx="279401" cy="860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  <a:defRPr/>
            </a:pPr>
            <a:fld id="{81D60167-4931-47E6-BA6A-407CBD079E47}" type="slidenum">
              <a:rPr spc="-10"/>
              <a:t>10</a:t>
            </a:fld>
            <a:r>
              <a:rPr spc="-85"/>
              <a:t> </a:t>
            </a:r>
            <a:r>
              <a:rPr spc="90"/>
              <a:t>/</a:t>
            </a:r>
            <a:r>
              <a:rPr spc="-85"/>
              <a:t> </a:t>
            </a:r>
            <a:r>
              <a:rPr spc="-50"/>
              <a:t>16</a:t>
            </a:r>
            <a:endParaRPr/>
          </a:p>
        </p:txBody>
      </p:sp>
      <p:sp>
        <p:nvSpPr>
          <p:cNvPr id="929260717" name="object 3" descr=""/>
          <p:cNvSpPr txBox="1"/>
          <p:nvPr/>
        </p:nvSpPr>
        <p:spPr bwMode="auto">
          <a:xfrm flipH="0" flipV="0">
            <a:off x="1886037" y="1717455"/>
            <a:ext cx="1629101" cy="230864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defRPr/>
            </a:pPr>
            <a:r>
              <a:rPr sz="1400" spc="-40">
                <a:latin typeface="Tahoma"/>
                <a:cs typeface="Tahoma"/>
              </a:rPr>
              <a:t>Questions?</a:t>
            </a:r>
            <a:endParaRPr sz="1400">
              <a:latin typeface="Tahoma"/>
              <a:cs typeface="Tahom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spd="med" p14:dur="500" advClick="1">
        <p:fade thruBlk="0"/>
      </p:transition>
    </mc:Choice>
    <mc:Fallback>
      <p:transition spd="med" advClick="1">
        <p:fade thruBlk="0"/>
      </p:transition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ONLYOFFICE/9.2.1.43</Application>
  <PresentationFormat>On-screen Show (4:3)</PresentationFormat>
  <Paragraphs>0</Paragraphs>
  <Slides>16</Slides>
  <Notes>16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Recommender Systems for E-commerce - A Comparative Study of Classical and Neural Approaches</dc:title>
  <dc:creator>Angsar Shaumen</dc:creator>
  <cp:lastModifiedBy/>
  <cp:revision>1</cp:revision>
  <dcterms:created xsi:type="dcterms:W3CDTF">2026-02-05T07:00:17Z</dcterms:created>
  <dcterms:modified xsi:type="dcterms:W3CDTF">2026-02-05T07:13:59Z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2026-02-05T00:00:00Z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2026-02-05T00:00:00Z</vt:filetime>
  </property>
  <property fmtid="{D5CDD505-2E9C-101B-9397-08002B2CF9AE}" pid="5" name="PTEX.Fullbanner">
    <vt:lpwstr>This is pdfTeX, Version 3.141592653-2.6-1.40.25 (TeX Live 2023/Debian) kpathsea version 6.3.5</vt:lpwstr>
  </property>
  <property fmtid="{D5CDD505-2E9C-101B-9397-08002B2CF9AE}" pid="6" name="Producer">
    <vt:lpwstr>pdfTeX-1.40.25</vt:lpwstr>
  </property>
</Properties>
</file>